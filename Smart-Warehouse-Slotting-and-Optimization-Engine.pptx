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M Sans Bold" panose="020B0604020202020204" charset="0"/>
      <p:regular r:id="rId13"/>
    </p:embeddedFont>
    <p:embeddedFont>
      <p:font typeface="EB Garamond Bold" panose="020B0604020202020204" charset="0"/>
      <p:regular r:id="rId14"/>
    </p:embeddedFont>
    <p:embeddedFont>
      <p:font typeface="Hubot Sans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05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6821" y="1460038"/>
            <a:ext cx="10102597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3800" b="1" kern="100" spc="148" dirty="0">
                <a:solidFill>
                  <a:srgbClr val="1800AD"/>
                </a:solidFill>
                <a:latin typeface="EB Garamond Bold" pitchFamily="34" charset="0"/>
                <a:ea typeface="EB Garamond Bold" pitchFamily="34" charset="-122"/>
                <a:cs typeface="EB Garamond Bold" pitchFamily="34" charset="0"/>
              </a:rPr>
              <a:t>Smart Warehouse Slotting &amp; Optimization Engine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46821" y="2865041"/>
            <a:ext cx="10102597" cy="149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800" b="1" kern="100" spc="148" dirty="0">
                <a:solidFill>
                  <a:srgbClr val="000000"/>
                </a:solidFill>
                <a:latin typeface="EB Garamond Bold" pitchFamily="34" charset="0"/>
                <a:ea typeface="EB Garamond Bold" pitchFamily="34" charset="-122"/>
                <a:cs typeface="EB Garamond Bold" pitchFamily="34" charset="0"/>
              </a:rPr>
              <a:t>Team: Fantastic Four</a:t>
            </a:r>
            <a:endParaRPr lang="en-US" sz="1800" dirty="0"/>
          </a:p>
          <a:p>
            <a:pPr marL="0" indent="0" algn="ctr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800" b="1" kern="100" spc="148" dirty="0">
                <a:solidFill>
                  <a:srgbClr val="000000"/>
                </a:solidFill>
                <a:latin typeface="EB Garamond Bold" pitchFamily="34" charset="0"/>
                <a:ea typeface="EB Garamond Bold" pitchFamily="34" charset="-122"/>
                <a:cs typeface="EB Garamond Bold" pitchFamily="34" charset="0"/>
              </a:rPr>
              <a:t>Problem Statement 2</a:t>
            </a:r>
            <a:endParaRPr lang="en-US" sz="1800" dirty="0"/>
          </a:p>
          <a:p>
            <a:pPr marL="0" indent="0" algn="ctr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800" b="1" kern="100" spc="148" dirty="0">
                <a:solidFill>
                  <a:srgbClr val="000000"/>
                </a:solidFill>
                <a:latin typeface="EB Garamond Bold" pitchFamily="34" charset="0"/>
                <a:ea typeface="EB Garamond Bold" pitchFamily="34" charset="-122"/>
                <a:cs typeface="EB Garamond Bold" pitchFamily="34" charset="0"/>
              </a:rPr>
              <a:t>Hemanth (Lead) · Larshitha · Mani Sharan Raj · Tejoram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4954" y="6172200"/>
            <a:ext cx="13119962" cy="113625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4134" y="-300335"/>
            <a:ext cx="13119962" cy="113625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65" y="249734"/>
            <a:ext cx="871913" cy="871934"/>
          </a:xfrm>
          <a:prstGeom prst="rect">
            <a:avLst/>
          </a:prstGeom>
        </p:spPr>
      </p:pic>
      <p:pic>
        <p:nvPicPr>
          <p:cNvPr id="9" name="Image 2">
            <a:extLst>
              <a:ext uri="{FF2B5EF4-FFF2-40B4-BE49-F238E27FC236}">
                <a16:creationId xmlns:a16="http://schemas.microsoft.com/office/drawing/2014/main" id="{C5F27FDB-B2F0-650F-7E35-8F11AEB3BB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617" y="261144"/>
            <a:ext cx="885009" cy="88503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43220" y="460"/>
                </a:lnTo>
                <a:lnTo>
                  <a:pt x="36710" y="1790"/>
                </a:lnTo>
                <a:lnTo>
                  <a:pt x="30540" y="3930"/>
                </a:lnTo>
                <a:lnTo>
                  <a:pt x="24760" y="6830"/>
                </a:lnTo>
                <a:lnTo>
                  <a:pt x="19450" y="10420"/>
                </a:lnTo>
                <a:lnTo>
                  <a:pt x="14640" y="14640"/>
                </a:lnTo>
                <a:lnTo>
                  <a:pt x="10420" y="19450"/>
                </a:lnTo>
                <a:lnTo>
                  <a:pt x="6830" y="24760"/>
                </a:lnTo>
                <a:lnTo>
                  <a:pt x="3930" y="30540"/>
                </a:lnTo>
                <a:lnTo>
                  <a:pt x="1790" y="36710"/>
                </a:lnTo>
                <a:lnTo>
                  <a:pt x="460" y="43220"/>
                </a:lnTo>
                <a:lnTo>
                  <a:pt x="0" y="50000"/>
                </a:lnTo>
                <a:lnTo>
                  <a:pt x="460" y="56780"/>
                </a:lnTo>
                <a:lnTo>
                  <a:pt x="1790" y="63290"/>
                </a:lnTo>
                <a:lnTo>
                  <a:pt x="3930" y="69460"/>
                </a:lnTo>
                <a:lnTo>
                  <a:pt x="6830" y="75240"/>
                </a:lnTo>
                <a:lnTo>
                  <a:pt x="10420" y="80550"/>
                </a:lnTo>
                <a:lnTo>
                  <a:pt x="14640" y="85360"/>
                </a:lnTo>
                <a:lnTo>
                  <a:pt x="19450" y="89580"/>
                </a:lnTo>
                <a:lnTo>
                  <a:pt x="24760" y="93170"/>
                </a:lnTo>
                <a:lnTo>
                  <a:pt x="30540" y="96070"/>
                </a:lnTo>
                <a:lnTo>
                  <a:pt x="36710" y="98210"/>
                </a:lnTo>
                <a:lnTo>
                  <a:pt x="43220" y="99540"/>
                </a:lnTo>
                <a:lnTo>
                  <a:pt x="50000" y="100000"/>
                </a:lnTo>
                <a:lnTo>
                  <a:pt x="56780" y="99540"/>
                </a:lnTo>
                <a:lnTo>
                  <a:pt x="63290" y="98210"/>
                </a:lnTo>
                <a:lnTo>
                  <a:pt x="69460" y="96070"/>
                </a:lnTo>
                <a:lnTo>
                  <a:pt x="75240" y="93170"/>
                </a:lnTo>
                <a:lnTo>
                  <a:pt x="80550" y="89580"/>
                </a:lnTo>
                <a:lnTo>
                  <a:pt x="85360" y="85360"/>
                </a:lnTo>
                <a:lnTo>
                  <a:pt x="89580" y="80550"/>
                </a:lnTo>
                <a:lnTo>
                  <a:pt x="93170" y="75240"/>
                </a:lnTo>
                <a:lnTo>
                  <a:pt x="96070" y="69460"/>
                </a:lnTo>
                <a:lnTo>
                  <a:pt x="98210" y="63290"/>
                </a:lnTo>
                <a:lnTo>
                  <a:pt x="99540" y="56780"/>
                </a:lnTo>
                <a:lnTo>
                  <a:pt x="100000" y="50000"/>
                </a:lnTo>
                <a:lnTo>
                  <a:pt x="99540" y="43220"/>
                </a:lnTo>
                <a:lnTo>
                  <a:pt x="98210" y="36710"/>
                </a:lnTo>
                <a:lnTo>
                  <a:pt x="96070" y="30540"/>
                </a:lnTo>
                <a:lnTo>
                  <a:pt x="93170" y="24760"/>
                </a:lnTo>
                <a:lnTo>
                  <a:pt x="89580" y="19450"/>
                </a:lnTo>
                <a:lnTo>
                  <a:pt x="85360" y="14640"/>
                </a:lnTo>
                <a:lnTo>
                  <a:pt x="80550" y="10420"/>
                </a:lnTo>
                <a:lnTo>
                  <a:pt x="75240" y="6830"/>
                </a:lnTo>
                <a:lnTo>
                  <a:pt x="69460" y="3930"/>
                </a:lnTo>
                <a:lnTo>
                  <a:pt x="63290" y="1790"/>
                </a:lnTo>
                <a:lnTo>
                  <a:pt x="56780" y="460"/>
                </a:lnTo>
                <a:lnTo>
                  <a:pt x="50000" y="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4134" y="-300335"/>
            <a:ext cx="13119962" cy="113625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88" y="267791"/>
            <a:ext cx="871913" cy="871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4954" y="6172200"/>
            <a:ext cx="13119962" cy="113625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566434" y="6272907"/>
            <a:ext cx="293680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1</a:t>
            </a:r>
            <a:endParaRPr lang="en-US" sz="2650" dirty="0"/>
          </a:p>
        </p:txBody>
      </p:sp>
      <p:sp>
        <p:nvSpPr>
          <p:cNvPr id="7" name="Text 1"/>
          <p:cNvSpPr/>
          <p:nvPr/>
        </p:nvSpPr>
        <p:spPr>
          <a:xfrm>
            <a:off x="817344" y="1204758"/>
            <a:ext cx="10362941" cy="61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3450" b="1" kern="100" spc="156" dirty="0">
                <a:solidFill>
                  <a:srgbClr val="1800AD"/>
                </a:solidFill>
                <a:latin typeface="EB Garamond Bold" pitchFamily="34" charset="0"/>
                <a:ea typeface="EB Garamond Bold" pitchFamily="34" charset="-122"/>
                <a:cs typeface="EB Garamond Bold" pitchFamily="34" charset="0"/>
              </a:rPr>
              <a:t>PROBLEM STATEMENT AND APPROACH</a:t>
            </a:r>
            <a:endParaRPr lang="en-US" sz="3450" dirty="0"/>
          </a:p>
        </p:txBody>
      </p:sp>
      <p:sp>
        <p:nvSpPr>
          <p:cNvPr id="8" name="Shape 2"/>
          <p:cNvSpPr/>
          <p:nvPr/>
        </p:nvSpPr>
        <p:spPr>
          <a:xfrm>
            <a:off x="888978" y="2032000"/>
            <a:ext cx="4978275" cy="2489200"/>
          </a:xfrm>
          <a:prstGeom prst="roundRect">
            <a:avLst>
              <a:gd name="adj" fmla="val 1378"/>
            </a:avLst>
          </a:prstGeom>
          <a:solidFill>
            <a:srgbClr val="FDE7F1"/>
          </a:solidFill>
          <a:ln/>
        </p:spPr>
      </p:sp>
      <p:sp>
        <p:nvSpPr>
          <p:cNvPr id="9" name="Shape 3"/>
          <p:cNvSpPr/>
          <p:nvPr/>
        </p:nvSpPr>
        <p:spPr>
          <a:xfrm>
            <a:off x="888978" y="2032000"/>
            <a:ext cx="4978275" cy="63500"/>
          </a:xfrm>
          <a:prstGeom prst="rect">
            <a:avLst/>
          </a:prstGeom>
          <a:solidFill>
            <a:srgbClr val="E8428A"/>
          </a:solidFill>
          <a:ln/>
        </p:spPr>
      </p:sp>
      <p:sp>
        <p:nvSpPr>
          <p:cNvPr id="10" name="Text 4"/>
          <p:cNvSpPr/>
          <p:nvPr/>
        </p:nvSpPr>
        <p:spPr>
          <a:xfrm>
            <a:off x="838179" y="2324100"/>
            <a:ext cx="507987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Problem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1142971" y="3086100"/>
            <a:ext cx="447028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Manual slotting causes excess travel, poor space utilization, ergonomic risks, and safety violations.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6222844" y="2032000"/>
            <a:ext cx="5079873" cy="2489200"/>
          </a:xfrm>
          <a:prstGeom prst="roundRect">
            <a:avLst>
              <a:gd name="adj" fmla="val 1378"/>
            </a:avLst>
          </a:prstGeom>
          <a:solidFill>
            <a:srgbClr val="EEEDFF"/>
          </a:solidFill>
          <a:ln/>
        </p:spPr>
      </p:sp>
      <p:sp>
        <p:nvSpPr>
          <p:cNvPr id="13" name="Shape 7"/>
          <p:cNvSpPr/>
          <p:nvPr/>
        </p:nvSpPr>
        <p:spPr>
          <a:xfrm>
            <a:off x="6222844" y="2032000"/>
            <a:ext cx="5079873" cy="63500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14" name="Text 8"/>
          <p:cNvSpPr/>
          <p:nvPr/>
        </p:nvSpPr>
        <p:spPr>
          <a:xfrm>
            <a:off x="6172046" y="2324100"/>
            <a:ext cx="518147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800AD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Approach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6476838" y="3086100"/>
            <a:ext cx="4571886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Model inventory and constraints; apply ABC classification and order affinity; validate space, weight, hazard, ergonomics, and demand constraints.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888978" y="4775200"/>
            <a:ext cx="10413739" cy="1168400"/>
          </a:xfrm>
          <a:prstGeom prst="roundRect">
            <a:avLst>
              <a:gd name="adj" fmla="val 2935"/>
            </a:avLst>
          </a:prstGeom>
          <a:solidFill>
            <a:srgbClr val="1800AD"/>
          </a:solidFill>
          <a:ln/>
        </p:spPr>
      </p:sp>
      <p:sp>
        <p:nvSpPr>
          <p:cNvPr id="17" name="Text 11"/>
          <p:cNvSpPr/>
          <p:nvPr/>
        </p:nvSpPr>
        <p:spPr>
          <a:xfrm>
            <a:off x="1193770" y="4953000"/>
            <a:ext cx="980415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Optimize with a greedy velocity-based heuristic plus simulated annealing. Route through an aisle-network graph, simulate pick paths, compare baseline vs optimized metrics, and visualize results in a dashboard.</a:t>
            </a:r>
            <a:endParaRPr lang="en-US" sz="1800" dirty="0"/>
          </a:p>
        </p:txBody>
      </p:sp>
      <p:pic>
        <p:nvPicPr>
          <p:cNvPr id="19" name="Image 2">
            <a:extLst>
              <a:ext uri="{FF2B5EF4-FFF2-40B4-BE49-F238E27FC236}">
                <a16:creationId xmlns:a16="http://schemas.microsoft.com/office/drawing/2014/main" id="{72CF1250-E380-D66B-36C4-D1886A198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617" y="261144"/>
            <a:ext cx="885009" cy="88503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43220" y="460"/>
                </a:lnTo>
                <a:lnTo>
                  <a:pt x="36710" y="1790"/>
                </a:lnTo>
                <a:lnTo>
                  <a:pt x="30540" y="3930"/>
                </a:lnTo>
                <a:lnTo>
                  <a:pt x="24760" y="6830"/>
                </a:lnTo>
                <a:lnTo>
                  <a:pt x="19450" y="10420"/>
                </a:lnTo>
                <a:lnTo>
                  <a:pt x="14640" y="14640"/>
                </a:lnTo>
                <a:lnTo>
                  <a:pt x="10420" y="19450"/>
                </a:lnTo>
                <a:lnTo>
                  <a:pt x="6830" y="24760"/>
                </a:lnTo>
                <a:lnTo>
                  <a:pt x="3930" y="30540"/>
                </a:lnTo>
                <a:lnTo>
                  <a:pt x="1790" y="36710"/>
                </a:lnTo>
                <a:lnTo>
                  <a:pt x="460" y="43220"/>
                </a:lnTo>
                <a:lnTo>
                  <a:pt x="0" y="50000"/>
                </a:lnTo>
                <a:lnTo>
                  <a:pt x="460" y="56780"/>
                </a:lnTo>
                <a:lnTo>
                  <a:pt x="1790" y="63290"/>
                </a:lnTo>
                <a:lnTo>
                  <a:pt x="3930" y="69460"/>
                </a:lnTo>
                <a:lnTo>
                  <a:pt x="6830" y="75240"/>
                </a:lnTo>
                <a:lnTo>
                  <a:pt x="10420" y="80550"/>
                </a:lnTo>
                <a:lnTo>
                  <a:pt x="14640" y="85360"/>
                </a:lnTo>
                <a:lnTo>
                  <a:pt x="19450" y="89580"/>
                </a:lnTo>
                <a:lnTo>
                  <a:pt x="24760" y="93170"/>
                </a:lnTo>
                <a:lnTo>
                  <a:pt x="30540" y="96070"/>
                </a:lnTo>
                <a:lnTo>
                  <a:pt x="36710" y="98210"/>
                </a:lnTo>
                <a:lnTo>
                  <a:pt x="43220" y="99540"/>
                </a:lnTo>
                <a:lnTo>
                  <a:pt x="50000" y="100000"/>
                </a:lnTo>
                <a:lnTo>
                  <a:pt x="56780" y="99540"/>
                </a:lnTo>
                <a:lnTo>
                  <a:pt x="63290" y="98210"/>
                </a:lnTo>
                <a:lnTo>
                  <a:pt x="69460" y="96070"/>
                </a:lnTo>
                <a:lnTo>
                  <a:pt x="75240" y="93170"/>
                </a:lnTo>
                <a:lnTo>
                  <a:pt x="80550" y="89580"/>
                </a:lnTo>
                <a:lnTo>
                  <a:pt x="85360" y="85360"/>
                </a:lnTo>
                <a:lnTo>
                  <a:pt x="89580" y="80550"/>
                </a:lnTo>
                <a:lnTo>
                  <a:pt x="93170" y="75240"/>
                </a:lnTo>
                <a:lnTo>
                  <a:pt x="96070" y="69460"/>
                </a:lnTo>
                <a:lnTo>
                  <a:pt x="98210" y="63290"/>
                </a:lnTo>
                <a:lnTo>
                  <a:pt x="99540" y="56780"/>
                </a:lnTo>
                <a:lnTo>
                  <a:pt x="100000" y="50000"/>
                </a:lnTo>
                <a:lnTo>
                  <a:pt x="99540" y="43220"/>
                </a:lnTo>
                <a:lnTo>
                  <a:pt x="98210" y="36710"/>
                </a:lnTo>
                <a:lnTo>
                  <a:pt x="96070" y="30540"/>
                </a:lnTo>
                <a:lnTo>
                  <a:pt x="93170" y="24760"/>
                </a:lnTo>
                <a:lnTo>
                  <a:pt x="89580" y="19450"/>
                </a:lnTo>
                <a:lnTo>
                  <a:pt x="85360" y="14640"/>
                </a:lnTo>
                <a:lnTo>
                  <a:pt x="80550" y="10420"/>
                </a:lnTo>
                <a:lnTo>
                  <a:pt x="75240" y="6830"/>
                </a:lnTo>
                <a:lnTo>
                  <a:pt x="69460" y="3930"/>
                </a:lnTo>
                <a:lnTo>
                  <a:pt x="63290" y="1790"/>
                </a:lnTo>
                <a:lnTo>
                  <a:pt x="56780" y="460"/>
                </a:lnTo>
                <a:lnTo>
                  <a:pt x="50000" y="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4134" y="-300335"/>
            <a:ext cx="13119962" cy="113625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88" y="267791"/>
            <a:ext cx="871913" cy="871934"/>
          </a:xfrm>
          <a:prstGeom prst="rect">
            <a:avLst/>
          </a:prstGeom>
        </p:spPr>
      </p:pic>
      <p:pic>
        <p:nvPicPr>
          <p:cNvPr id="4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617" y="261144"/>
            <a:ext cx="885009" cy="88503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43220" y="460"/>
                </a:lnTo>
                <a:lnTo>
                  <a:pt x="36710" y="1790"/>
                </a:lnTo>
                <a:lnTo>
                  <a:pt x="30540" y="3930"/>
                </a:lnTo>
                <a:lnTo>
                  <a:pt x="24760" y="6830"/>
                </a:lnTo>
                <a:lnTo>
                  <a:pt x="19450" y="10420"/>
                </a:lnTo>
                <a:lnTo>
                  <a:pt x="14640" y="14640"/>
                </a:lnTo>
                <a:lnTo>
                  <a:pt x="10420" y="19450"/>
                </a:lnTo>
                <a:lnTo>
                  <a:pt x="6830" y="24760"/>
                </a:lnTo>
                <a:lnTo>
                  <a:pt x="3930" y="30540"/>
                </a:lnTo>
                <a:lnTo>
                  <a:pt x="1790" y="36710"/>
                </a:lnTo>
                <a:lnTo>
                  <a:pt x="460" y="43220"/>
                </a:lnTo>
                <a:lnTo>
                  <a:pt x="0" y="50000"/>
                </a:lnTo>
                <a:lnTo>
                  <a:pt x="460" y="56780"/>
                </a:lnTo>
                <a:lnTo>
                  <a:pt x="1790" y="63290"/>
                </a:lnTo>
                <a:lnTo>
                  <a:pt x="3930" y="69460"/>
                </a:lnTo>
                <a:lnTo>
                  <a:pt x="6830" y="75240"/>
                </a:lnTo>
                <a:lnTo>
                  <a:pt x="10420" y="80550"/>
                </a:lnTo>
                <a:lnTo>
                  <a:pt x="14640" y="85360"/>
                </a:lnTo>
                <a:lnTo>
                  <a:pt x="19450" y="89580"/>
                </a:lnTo>
                <a:lnTo>
                  <a:pt x="24760" y="93170"/>
                </a:lnTo>
                <a:lnTo>
                  <a:pt x="30540" y="96070"/>
                </a:lnTo>
                <a:lnTo>
                  <a:pt x="36710" y="98210"/>
                </a:lnTo>
                <a:lnTo>
                  <a:pt x="43220" y="99540"/>
                </a:lnTo>
                <a:lnTo>
                  <a:pt x="50000" y="100000"/>
                </a:lnTo>
                <a:lnTo>
                  <a:pt x="56780" y="99540"/>
                </a:lnTo>
                <a:lnTo>
                  <a:pt x="63290" y="98210"/>
                </a:lnTo>
                <a:lnTo>
                  <a:pt x="69460" y="96070"/>
                </a:lnTo>
                <a:lnTo>
                  <a:pt x="75240" y="93170"/>
                </a:lnTo>
                <a:lnTo>
                  <a:pt x="80550" y="89580"/>
                </a:lnTo>
                <a:lnTo>
                  <a:pt x="85360" y="85360"/>
                </a:lnTo>
                <a:lnTo>
                  <a:pt x="89580" y="80550"/>
                </a:lnTo>
                <a:lnTo>
                  <a:pt x="93170" y="75240"/>
                </a:lnTo>
                <a:lnTo>
                  <a:pt x="96070" y="69460"/>
                </a:lnTo>
                <a:lnTo>
                  <a:pt x="98210" y="63290"/>
                </a:lnTo>
                <a:lnTo>
                  <a:pt x="99540" y="56780"/>
                </a:lnTo>
                <a:lnTo>
                  <a:pt x="100000" y="50000"/>
                </a:lnTo>
                <a:lnTo>
                  <a:pt x="99540" y="43220"/>
                </a:lnTo>
                <a:lnTo>
                  <a:pt x="98210" y="36710"/>
                </a:lnTo>
                <a:lnTo>
                  <a:pt x="96070" y="30540"/>
                </a:lnTo>
                <a:lnTo>
                  <a:pt x="93170" y="24760"/>
                </a:lnTo>
                <a:lnTo>
                  <a:pt x="89580" y="19450"/>
                </a:lnTo>
                <a:lnTo>
                  <a:pt x="85360" y="14640"/>
                </a:lnTo>
                <a:lnTo>
                  <a:pt x="80550" y="10420"/>
                </a:lnTo>
                <a:lnTo>
                  <a:pt x="75240" y="6830"/>
                </a:lnTo>
                <a:lnTo>
                  <a:pt x="69460" y="3930"/>
                </a:lnTo>
                <a:lnTo>
                  <a:pt x="63290" y="1790"/>
                </a:lnTo>
                <a:lnTo>
                  <a:pt x="56780" y="460"/>
                </a:lnTo>
                <a:lnTo>
                  <a:pt x="50000" y="0"/>
                </a:lnTo>
                <a:close/>
              </a:path>
            </a:pathLst>
          </a:cu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4954" y="6172200"/>
            <a:ext cx="13119962" cy="113625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566434" y="6272907"/>
            <a:ext cx="293680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2</a:t>
            </a:r>
            <a:endParaRPr lang="en-US" sz="2650" dirty="0"/>
          </a:p>
        </p:txBody>
      </p:sp>
      <p:sp>
        <p:nvSpPr>
          <p:cNvPr id="7" name="Text 1"/>
          <p:cNvSpPr/>
          <p:nvPr/>
        </p:nvSpPr>
        <p:spPr>
          <a:xfrm>
            <a:off x="817344" y="1204758"/>
            <a:ext cx="10362941" cy="61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3450" b="1" kern="100" spc="156" dirty="0">
                <a:solidFill>
                  <a:srgbClr val="1800AD"/>
                </a:solidFill>
                <a:latin typeface="EB Garamond Bold" pitchFamily="34" charset="0"/>
                <a:ea typeface="EB Garamond Bold" pitchFamily="34" charset="-122"/>
                <a:cs typeface="EB Garamond Bold" pitchFamily="34" charset="0"/>
              </a:rPr>
              <a:t>TECH STACK</a:t>
            </a:r>
            <a:endParaRPr lang="en-US" sz="3450" dirty="0"/>
          </a:p>
        </p:txBody>
      </p:sp>
      <p:sp>
        <p:nvSpPr>
          <p:cNvPr id="8" name="Shape 2"/>
          <p:cNvSpPr/>
          <p:nvPr/>
        </p:nvSpPr>
        <p:spPr>
          <a:xfrm>
            <a:off x="888978" y="2032000"/>
            <a:ext cx="5079873" cy="1600200"/>
          </a:xfrm>
          <a:prstGeom prst="roundRect">
            <a:avLst>
              <a:gd name="adj" fmla="val 2143"/>
            </a:avLst>
          </a:prstGeom>
          <a:solidFill>
            <a:srgbClr val="EEEDFF"/>
          </a:solidFill>
          <a:ln/>
        </p:spPr>
      </p:sp>
      <p:sp>
        <p:nvSpPr>
          <p:cNvPr id="9" name="Shape 3"/>
          <p:cNvSpPr/>
          <p:nvPr/>
        </p:nvSpPr>
        <p:spPr>
          <a:xfrm>
            <a:off x="888978" y="2032000"/>
            <a:ext cx="5079873" cy="63500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10" name="Text 4"/>
          <p:cNvSpPr/>
          <p:nvPr/>
        </p:nvSpPr>
        <p:spPr>
          <a:xfrm>
            <a:off x="838179" y="2298700"/>
            <a:ext cx="518147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00AD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Core</a:t>
            </a:r>
            <a:endParaRPr lang="en-US" sz="1700" dirty="0"/>
          </a:p>
        </p:txBody>
      </p:sp>
      <p:sp>
        <p:nvSpPr>
          <p:cNvPr id="11" name="Text 5"/>
          <p:cNvSpPr/>
          <p:nvPr/>
        </p:nvSpPr>
        <p:spPr>
          <a:xfrm>
            <a:off x="838179" y="3003550"/>
            <a:ext cx="51814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Python 3.14 · Pandas · NumPy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6222844" y="2032000"/>
            <a:ext cx="5079873" cy="1600200"/>
          </a:xfrm>
          <a:prstGeom prst="roundRect">
            <a:avLst>
              <a:gd name="adj" fmla="val 2143"/>
            </a:avLst>
          </a:prstGeom>
          <a:solidFill>
            <a:srgbClr val="FDE7F1"/>
          </a:solidFill>
          <a:ln/>
        </p:spPr>
      </p:sp>
      <p:sp>
        <p:nvSpPr>
          <p:cNvPr id="13" name="Shape 7"/>
          <p:cNvSpPr/>
          <p:nvPr/>
        </p:nvSpPr>
        <p:spPr>
          <a:xfrm>
            <a:off x="6222844" y="2032000"/>
            <a:ext cx="5079873" cy="63500"/>
          </a:xfrm>
          <a:prstGeom prst="rect">
            <a:avLst/>
          </a:prstGeom>
          <a:solidFill>
            <a:srgbClr val="E8428A"/>
          </a:solidFill>
          <a:ln/>
        </p:spPr>
      </p:sp>
      <p:sp>
        <p:nvSpPr>
          <p:cNvPr id="14" name="Text 8"/>
          <p:cNvSpPr/>
          <p:nvPr/>
        </p:nvSpPr>
        <p:spPr>
          <a:xfrm>
            <a:off x="6172046" y="2298700"/>
            <a:ext cx="518147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00AD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Visualization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6172046" y="3003550"/>
            <a:ext cx="51814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Streamlit · Plotly · Matplotlib · Seaborn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88978" y="3810000"/>
            <a:ext cx="5079873" cy="1905000"/>
          </a:xfrm>
          <a:prstGeom prst="roundRect">
            <a:avLst>
              <a:gd name="adj" fmla="val 1800"/>
            </a:avLst>
          </a:prstGeom>
          <a:solidFill>
            <a:srgbClr val="FFF1E0"/>
          </a:solidFill>
          <a:ln/>
        </p:spPr>
      </p:sp>
      <p:sp>
        <p:nvSpPr>
          <p:cNvPr id="17" name="Shape 11"/>
          <p:cNvSpPr/>
          <p:nvPr/>
        </p:nvSpPr>
        <p:spPr>
          <a:xfrm>
            <a:off x="888978" y="3810000"/>
            <a:ext cx="5079873" cy="6350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8" name="Text 12"/>
          <p:cNvSpPr/>
          <p:nvPr/>
        </p:nvSpPr>
        <p:spPr>
          <a:xfrm>
            <a:off x="838179" y="4076700"/>
            <a:ext cx="518147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00AD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Optimization &amp; routing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142971" y="4781550"/>
            <a:ext cx="457188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Custom aisle-network graph · Dijkstra shortest path · greedy velocity-based heuristic · simulated annealing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222844" y="3810000"/>
            <a:ext cx="5079873" cy="1905000"/>
          </a:xfrm>
          <a:prstGeom prst="roundRect">
            <a:avLst>
              <a:gd name="adj" fmla="val 1800"/>
            </a:avLst>
          </a:prstGeom>
          <a:solidFill>
            <a:srgbClr val="E9F0FF"/>
          </a:solidFill>
          <a:ln/>
        </p:spPr>
      </p:sp>
      <p:sp>
        <p:nvSpPr>
          <p:cNvPr id="21" name="Shape 15"/>
          <p:cNvSpPr/>
          <p:nvPr/>
        </p:nvSpPr>
        <p:spPr>
          <a:xfrm>
            <a:off x="6222844" y="3810000"/>
            <a:ext cx="5079873" cy="63500"/>
          </a:xfrm>
          <a:prstGeom prst="rect">
            <a:avLst/>
          </a:prstGeom>
          <a:solidFill>
            <a:srgbClr val="3533CD"/>
          </a:solidFill>
          <a:ln/>
        </p:spPr>
      </p:sp>
      <p:sp>
        <p:nvSpPr>
          <p:cNvPr id="22" name="Text 16"/>
          <p:cNvSpPr/>
          <p:nvPr/>
        </p:nvSpPr>
        <p:spPr>
          <a:xfrm>
            <a:off x="6172046" y="4076700"/>
            <a:ext cx="518147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533CD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Engineering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476838" y="4781550"/>
            <a:ext cx="457188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PyTest · CSV and JSON · Git and GitHub · Visual Studio Code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4134" y="-300335"/>
            <a:ext cx="13119962" cy="113625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4954" y="6172200"/>
            <a:ext cx="13119962" cy="11362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566434" y="6272907"/>
            <a:ext cx="293680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3</a:t>
            </a:r>
            <a:endParaRPr lang="en-US" sz="2650" dirty="0"/>
          </a:p>
        </p:txBody>
      </p:sp>
      <p:sp>
        <p:nvSpPr>
          <p:cNvPr id="5" name="Text 1"/>
          <p:cNvSpPr/>
          <p:nvPr/>
        </p:nvSpPr>
        <p:spPr>
          <a:xfrm>
            <a:off x="817344" y="1204758"/>
            <a:ext cx="10362941" cy="61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3450" b="1" kern="100" spc="156" dirty="0">
                <a:solidFill>
                  <a:srgbClr val="1800AD"/>
                </a:solidFill>
                <a:latin typeface="EB Garamond Bold" pitchFamily="34" charset="0"/>
                <a:ea typeface="EB Garamond Bold" pitchFamily="34" charset="-122"/>
                <a:cs typeface="EB Garamond Bold" pitchFamily="34" charset="0"/>
              </a:rPr>
              <a:t>FEASIBILITY</a:t>
            </a:r>
            <a:endParaRPr lang="en-US" sz="34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88" y="267791"/>
            <a:ext cx="871913" cy="871934"/>
          </a:xfrm>
          <a:prstGeom prst="rect">
            <a:avLst/>
          </a:prstGeom>
        </p:spPr>
      </p:pic>
      <p:pic>
        <p:nvPicPr>
          <p:cNvPr id="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617" y="261144"/>
            <a:ext cx="885009" cy="88503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43220" y="460"/>
                </a:lnTo>
                <a:lnTo>
                  <a:pt x="36710" y="1790"/>
                </a:lnTo>
                <a:lnTo>
                  <a:pt x="30540" y="3930"/>
                </a:lnTo>
                <a:lnTo>
                  <a:pt x="24760" y="6830"/>
                </a:lnTo>
                <a:lnTo>
                  <a:pt x="19450" y="10420"/>
                </a:lnTo>
                <a:lnTo>
                  <a:pt x="14640" y="14640"/>
                </a:lnTo>
                <a:lnTo>
                  <a:pt x="10420" y="19450"/>
                </a:lnTo>
                <a:lnTo>
                  <a:pt x="6830" y="24760"/>
                </a:lnTo>
                <a:lnTo>
                  <a:pt x="3930" y="30540"/>
                </a:lnTo>
                <a:lnTo>
                  <a:pt x="1790" y="36710"/>
                </a:lnTo>
                <a:lnTo>
                  <a:pt x="460" y="43220"/>
                </a:lnTo>
                <a:lnTo>
                  <a:pt x="0" y="50000"/>
                </a:lnTo>
                <a:lnTo>
                  <a:pt x="460" y="56780"/>
                </a:lnTo>
                <a:lnTo>
                  <a:pt x="1790" y="63290"/>
                </a:lnTo>
                <a:lnTo>
                  <a:pt x="3930" y="69460"/>
                </a:lnTo>
                <a:lnTo>
                  <a:pt x="6830" y="75240"/>
                </a:lnTo>
                <a:lnTo>
                  <a:pt x="10420" y="80550"/>
                </a:lnTo>
                <a:lnTo>
                  <a:pt x="14640" y="85360"/>
                </a:lnTo>
                <a:lnTo>
                  <a:pt x="19450" y="89580"/>
                </a:lnTo>
                <a:lnTo>
                  <a:pt x="24760" y="93170"/>
                </a:lnTo>
                <a:lnTo>
                  <a:pt x="30540" y="96070"/>
                </a:lnTo>
                <a:lnTo>
                  <a:pt x="36710" y="98210"/>
                </a:lnTo>
                <a:lnTo>
                  <a:pt x="43220" y="99540"/>
                </a:lnTo>
                <a:lnTo>
                  <a:pt x="50000" y="100000"/>
                </a:lnTo>
                <a:lnTo>
                  <a:pt x="56780" y="99540"/>
                </a:lnTo>
                <a:lnTo>
                  <a:pt x="63290" y="98210"/>
                </a:lnTo>
                <a:lnTo>
                  <a:pt x="69460" y="96070"/>
                </a:lnTo>
                <a:lnTo>
                  <a:pt x="75240" y="93170"/>
                </a:lnTo>
                <a:lnTo>
                  <a:pt x="80550" y="89580"/>
                </a:lnTo>
                <a:lnTo>
                  <a:pt x="85360" y="85360"/>
                </a:lnTo>
                <a:lnTo>
                  <a:pt x="89580" y="80550"/>
                </a:lnTo>
                <a:lnTo>
                  <a:pt x="93170" y="75240"/>
                </a:lnTo>
                <a:lnTo>
                  <a:pt x="96070" y="69460"/>
                </a:lnTo>
                <a:lnTo>
                  <a:pt x="98210" y="63290"/>
                </a:lnTo>
                <a:lnTo>
                  <a:pt x="99540" y="56780"/>
                </a:lnTo>
                <a:lnTo>
                  <a:pt x="100000" y="50000"/>
                </a:lnTo>
                <a:lnTo>
                  <a:pt x="99540" y="43220"/>
                </a:lnTo>
                <a:lnTo>
                  <a:pt x="98210" y="36710"/>
                </a:lnTo>
                <a:lnTo>
                  <a:pt x="96070" y="30540"/>
                </a:lnTo>
                <a:lnTo>
                  <a:pt x="93170" y="24760"/>
                </a:lnTo>
                <a:lnTo>
                  <a:pt x="89580" y="19450"/>
                </a:lnTo>
                <a:lnTo>
                  <a:pt x="85360" y="14640"/>
                </a:lnTo>
                <a:lnTo>
                  <a:pt x="80550" y="10420"/>
                </a:lnTo>
                <a:lnTo>
                  <a:pt x="75240" y="6830"/>
                </a:lnTo>
                <a:lnTo>
                  <a:pt x="69460" y="3930"/>
                </a:lnTo>
                <a:lnTo>
                  <a:pt x="63290" y="1790"/>
                </a:lnTo>
                <a:lnTo>
                  <a:pt x="56780" y="460"/>
                </a:lnTo>
                <a:lnTo>
                  <a:pt x="50000" y="0"/>
                </a:lnTo>
                <a:close/>
              </a:path>
            </a:pathLst>
          </a:custGeom>
        </p:spPr>
      </p:pic>
      <p:sp>
        <p:nvSpPr>
          <p:cNvPr id="9" name="Shape 2"/>
          <p:cNvSpPr/>
          <p:nvPr/>
        </p:nvSpPr>
        <p:spPr>
          <a:xfrm>
            <a:off x="888978" y="2032000"/>
            <a:ext cx="3301917" cy="3683000"/>
          </a:xfrm>
          <a:prstGeom prst="roundRect">
            <a:avLst>
              <a:gd name="adj" fmla="val 1038"/>
            </a:avLst>
          </a:prstGeom>
          <a:solidFill>
            <a:srgbClr val="EEEDFF"/>
          </a:solidFill>
          <a:ln/>
        </p:spPr>
      </p:sp>
      <p:sp>
        <p:nvSpPr>
          <p:cNvPr id="10" name="Shape 3"/>
          <p:cNvSpPr/>
          <p:nvPr/>
        </p:nvSpPr>
        <p:spPr>
          <a:xfrm>
            <a:off x="888978" y="2032000"/>
            <a:ext cx="3301917" cy="63500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11" name="Text 4"/>
          <p:cNvSpPr/>
          <p:nvPr/>
        </p:nvSpPr>
        <p:spPr>
          <a:xfrm>
            <a:off x="838179" y="2374900"/>
            <a:ext cx="340351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800AD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Technical feasibility</a:t>
            </a:r>
            <a:endParaRPr lang="en-US" sz="1800" dirty="0"/>
          </a:p>
        </p:txBody>
      </p:sp>
      <p:sp>
        <p:nvSpPr>
          <p:cNvPr id="12" name="Text 5"/>
          <p:cNvSpPr/>
          <p:nvPr/>
        </p:nvSpPr>
        <p:spPr>
          <a:xfrm>
            <a:off x="1142971" y="3098800"/>
            <a:ext cx="279393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Python-based modeling, graph routing, optimization, and dashboard components are available and integrate cleanly.</a:t>
            </a:r>
            <a:endParaRPr lang="en-US" sz="1500" dirty="0"/>
          </a:p>
        </p:txBody>
      </p:sp>
      <p:sp>
        <p:nvSpPr>
          <p:cNvPr id="13" name="Shape 6"/>
          <p:cNvSpPr/>
          <p:nvPr/>
        </p:nvSpPr>
        <p:spPr>
          <a:xfrm>
            <a:off x="4444889" y="2032000"/>
            <a:ext cx="3301917" cy="3683000"/>
          </a:xfrm>
          <a:prstGeom prst="roundRect">
            <a:avLst>
              <a:gd name="adj" fmla="val 1038"/>
            </a:avLst>
          </a:prstGeom>
          <a:solidFill>
            <a:srgbClr val="FDE7F1"/>
          </a:solidFill>
          <a:ln/>
        </p:spPr>
      </p:sp>
      <p:sp>
        <p:nvSpPr>
          <p:cNvPr id="14" name="Shape 7"/>
          <p:cNvSpPr/>
          <p:nvPr/>
        </p:nvSpPr>
        <p:spPr>
          <a:xfrm>
            <a:off x="4444889" y="2032000"/>
            <a:ext cx="3301917" cy="63500"/>
          </a:xfrm>
          <a:prstGeom prst="rect">
            <a:avLst/>
          </a:prstGeom>
          <a:solidFill>
            <a:srgbClr val="E8428A"/>
          </a:solidFill>
          <a:ln/>
        </p:spPr>
      </p:sp>
      <p:sp>
        <p:nvSpPr>
          <p:cNvPr id="15" name="Text 8"/>
          <p:cNvSpPr/>
          <p:nvPr/>
        </p:nvSpPr>
        <p:spPr>
          <a:xfrm>
            <a:off x="4394090" y="2374900"/>
            <a:ext cx="340351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Operational feasibility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4698882" y="3098800"/>
            <a:ext cx="279393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CSV/JSON inputs, feasibility flags, baseline comparison, and route visualization support practical warehouse workflows.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8000800" y="2032000"/>
            <a:ext cx="3301917" cy="3683000"/>
          </a:xfrm>
          <a:prstGeom prst="roundRect">
            <a:avLst>
              <a:gd name="adj" fmla="val 1038"/>
            </a:avLst>
          </a:prstGeom>
          <a:solidFill>
            <a:srgbClr val="FFF1E0"/>
          </a:solidFill>
          <a:ln/>
        </p:spPr>
      </p:sp>
      <p:sp>
        <p:nvSpPr>
          <p:cNvPr id="18" name="Shape 11"/>
          <p:cNvSpPr/>
          <p:nvPr/>
        </p:nvSpPr>
        <p:spPr>
          <a:xfrm>
            <a:off x="8000800" y="2032000"/>
            <a:ext cx="3301917" cy="6350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9" name="Text 12"/>
          <p:cNvSpPr/>
          <p:nvPr/>
        </p:nvSpPr>
        <p:spPr>
          <a:xfrm>
            <a:off x="7950001" y="2374900"/>
            <a:ext cx="340351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Economic feasibility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8254793" y="3098800"/>
            <a:ext cx="279393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Open-source tools and lightweight deployment keep implementation and operating costs manageable while targeting lower travel time and better space use.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4134" y="-300335"/>
            <a:ext cx="13119962" cy="113625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88" y="267791"/>
            <a:ext cx="871913" cy="871934"/>
          </a:xfrm>
          <a:prstGeom prst="rect">
            <a:avLst/>
          </a:prstGeom>
        </p:spPr>
      </p:pic>
      <p:pic>
        <p:nvPicPr>
          <p:cNvPr id="4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4667" y="261144"/>
            <a:ext cx="885009" cy="88503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43220" y="460"/>
                </a:lnTo>
                <a:lnTo>
                  <a:pt x="36710" y="1790"/>
                </a:lnTo>
                <a:lnTo>
                  <a:pt x="30540" y="3930"/>
                </a:lnTo>
                <a:lnTo>
                  <a:pt x="24760" y="6830"/>
                </a:lnTo>
                <a:lnTo>
                  <a:pt x="19450" y="10420"/>
                </a:lnTo>
                <a:lnTo>
                  <a:pt x="14640" y="14640"/>
                </a:lnTo>
                <a:lnTo>
                  <a:pt x="10420" y="19450"/>
                </a:lnTo>
                <a:lnTo>
                  <a:pt x="6830" y="24760"/>
                </a:lnTo>
                <a:lnTo>
                  <a:pt x="3930" y="30540"/>
                </a:lnTo>
                <a:lnTo>
                  <a:pt x="1790" y="36710"/>
                </a:lnTo>
                <a:lnTo>
                  <a:pt x="460" y="43220"/>
                </a:lnTo>
                <a:lnTo>
                  <a:pt x="0" y="50000"/>
                </a:lnTo>
                <a:lnTo>
                  <a:pt x="460" y="56780"/>
                </a:lnTo>
                <a:lnTo>
                  <a:pt x="1790" y="63290"/>
                </a:lnTo>
                <a:lnTo>
                  <a:pt x="3930" y="69460"/>
                </a:lnTo>
                <a:lnTo>
                  <a:pt x="6830" y="75240"/>
                </a:lnTo>
                <a:lnTo>
                  <a:pt x="10420" y="80550"/>
                </a:lnTo>
                <a:lnTo>
                  <a:pt x="14640" y="85360"/>
                </a:lnTo>
                <a:lnTo>
                  <a:pt x="19450" y="89580"/>
                </a:lnTo>
                <a:lnTo>
                  <a:pt x="24760" y="93170"/>
                </a:lnTo>
                <a:lnTo>
                  <a:pt x="30540" y="96070"/>
                </a:lnTo>
                <a:lnTo>
                  <a:pt x="36710" y="98210"/>
                </a:lnTo>
                <a:lnTo>
                  <a:pt x="43220" y="99540"/>
                </a:lnTo>
                <a:lnTo>
                  <a:pt x="50000" y="100000"/>
                </a:lnTo>
                <a:lnTo>
                  <a:pt x="56780" y="99540"/>
                </a:lnTo>
                <a:lnTo>
                  <a:pt x="63290" y="98210"/>
                </a:lnTo>
                <a:lnTo>
                  <a:pt x="69460" y="96070"/>
                </a:lnTo>
                <a:lnTo>
                  <a:pt x="75240" y="93170"/>
                </a:lnTo>
                <a:lnTo>
                  <a:pt x="80550" y="89580"/>
                </a:lnTo>
                <a:lnTo>
                  <a:pt x="85360" y="85360"/>
                </a:lnTo>
                <a:lnTo>
                  <a:pt x="89580" y="80550"/>
                </a:lnTo>
                <a:lnTo>
                  <a:pt x="93170" y="75240"/>
                </a:lnTo>
                <a:lnTo>
                  <a:pt x="96070" y="69460"/>
                </a:lnTo>
                <a:lnTo>
                  <a:pt x="98210" y="63290"/>
                </a:lnTo>
                <a:lnTo>
                  <a:pt x="99540" y="56780"/>
                </a:lnTo>
                <a:lnTo>
                  <a:pt x="100000" y="50000"/>
                </a:lnTo>
                <a:lnTo>
                  <a:pt x="99540" y="43220"/>
                </a:lnTo>
                <a:lnTo>
                  <a:pt x="98210" y="36710"/>
                </a:lnTo>
                <a:lnTo>
                  <a:pt x="96070" y="30540"/>
                </a:lnTo>
                <a:lnTo>
                  <a:pt x="93170" y="24760"/>
                </a:lnTo>
                <a:lnTo>
                  <a:pt x="89580" y="19450"/>
                </a:lnTo>
                <a:lnTo>
                  <a:pt x="85360" y="14640"/>
                </a:lnTo>
                <a:lnTo>
                  <a:pt x="80550" y="10420"/>
                </a:lnTo>
                <a:lnTo>
                  <a:pt x="75240" y="6830"/>
                </a:lnTo>
                <a:lnTo>
                  <a:pt x="69460" y="3930"/>
                </a:lnTo>
                <a:lnTo>
                  <a:pt x="63290" y="1790"/>
                </a:lnTo>
                <a:lnTo>
                  <a:pt x="56780" y="460"/>
                </a:lnTo>
                <a:lnTo>
                  <a:pt x="50000" y="0"/>
                </a:lnTo>
                <a:close/>
              </a:path>
            </a:pathLst>
          </a:cu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4954" y="6172200"/>
            <a:ext cx="13119962" cy="113625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566434" y="6272907"/>
            <a:ext cx="293680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4</a:t>
            </a:r>
            <a:endParaRPr lang="en-US" sz="2650" dirty="0"/>
          </a:p>
        </p:txBody>
      </p:sp>
      <p:sp>
        <p:nvSpPr>
          <p:cNvPr id="7" name="Text 1"/>
          <p:cNvSpPr/>
          <p:nvPr/>
        </p:nvSpPr>
        <p:spPr>
          <a:xfrm>
            <a:off x="817344" y="1204758"/>
            <a:ext cx="10362941" cy="61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3450" b="1" kern="100" spc="156" dirty="0">
                <a:solidFill>
                  <a:srgbClr val="1800AD"/>
                </a:solidFill>
                <a:latin typeface="EB Garamond Bold" pitchFamily="34" charset="0"/>
                <a:ea typeface="EB Garamond Bold" pitchFamily="34" charset="-122"/>
                <a:cs typeface="EB Garamond Bold" pitchFamily="34" charset="0"/>
              </a:rPr>
              <a:t>TARGET AUDIENCE</a:t>
            </a:r>
            <a:endParaRPr lang="en-US" sz="3450" dirty="0"/>
          </a:p>
        </p:txBody>
      </p:sp>
      <p:sp>
        <p:nvSpPr>
          <p:cNvPr id="8" name="Shape 2"/>
          <p:cNvSpPr/>
          <p:nvPr/>
        </p:nvSpPr>
        <p:spPr>
          <a:xfrm>
            <a:off x="888978" y="2032000"/>
            <a:ext cx="10413739" cy="635000"/>
          </a:xfrm>
          <a:prstGeom prst="roundRect">
            <a:avLst>
              <a:gd name="adj" fmla="val 5400"/>
            </a:avLst>
          </a:prstGeom>
          <a:solidFill>
            <a:srgbClr val="F5F4FF"/>
          </a:solidFill>
          <a:ln/>
        </p:spPr>
      </p:sp>
      <p:sp>
        <p:nvSpPr>
          <p:cNvPr id="9" name="Text 3"/>
          <p:cNvSpPr/>
          <p:nvPr/>
        </p:nvSpPr>
        <p:spPr>
          <a:xfrm>
            <a:off x="888978" y="2178050"/>
            <a:ext cx="1041373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Warehouse and distribution center managers</a:t>
            </a:r>
            <a:endParaRPr lang="en-US" sz="1800" dirty="0"/>
          </a:p>
        </p:txBody>
      </p:sp>
      <p:sp>
        <p:nvSpPr>
          <p:cNvPr id="10" name="Shape 4"/>
          <p:cNvSpPr/>
          <p:nvPr/>
        </p:nvSpPr>
        <p:spPr>
          <a:xfrm>
            <a:off x="888978" y="2032000"/>
            <a:ext cx="101597" cy="635000"/>
          </a:xfrm>
          <a:prstGeom prst="roundRect">
            <a:avLst>
              <a:gd name="adj" fmla="val 33750"/>
            </a:avLst>
          </a:prstGeom>
          <a:solidFill>
            <a:srgbClr val="1800AD"/>
          </a:solidFill>
          <a:ln/>
        </p:spPr>
      </p:sp>
      <p:sp>
        <p:nvSpPr>
          <p:cNvPr id="11" name="Shape 5"/>
          <p:cNvSpPr/>
          <p:nvPr/>
        </p:nvSpPr>
        <p:spPr>
          <a:xfrm>
            <a:off x="888978" y="2768600"/>
            <a:ext cx="10413739" cy="635000"/>
          </a:xfrm>
          <a:prstGeom prst="roundRect">
            <a:avLst>
              <a:gd name="adj" fmla="val 5400"/>
            </a:avLst>
          </a:prstGeom>
          <a:solidFill>
            <a:srgbClr val="F5F4FF"/>
          </a:solidFill>
          <a:ln/>
        </p:spPr>
      </p:sp>
      <p:sp>
        <p:nvSpPr>
          <p:cNvPr id="12" name="Text 6"/>
          <p:cNvSpPr/>
          <p:nvPr/>
        </p:nvSpPr>
        <p:spPr>
          <a:xfrm>
            <a:off x="888978" y="2914650"/>
            <a:ext cx="1041373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E-commerce fulfillment centers</a:t>
            </a:r>
            <a:endParaRPr lang="en-US" sz="1800" dirty="0"/>
          </a:p>
        </p:txBody>
      </p:sp>
      <p:sp>
        <p:nvSpPr>
          <p:cNvPr id="13" name="Shape 7"/>
          <p:cNvSpPr/>
          <p:nvPr/>
        </p:nvSpPr>
        <p:spPr>
          <a:xfrm>
            <a:off x="888978" y="2768600"/>
            <a:ext cx="101597" cy="635000"/>
          </a:xfrm>
          <a:prstGeom prst="roundRect">
            <a:avLst>
              <a:gd name="adj" fmla="val 33750"/>
            </a:avLst>
          </a:prstGeom>
          <a:solidFill>
            <a:srgbClr val="3533CD"/>
          </a:solidFill>
          <a:ln/>
        </p:spPr>
      </p:sp>
      <p:sp>
        <p:nvSpPr>
          <p:cNvPr id="14" name="Shape 8"/>
          <p:cNvSpPr/>
          <p:nvPr/>
        </p:nvSpPr>
        <p:spPr>
          <a:xfrm>
            <a:off x="888978" y="3505200"/>
            <a:ext cx="10413739" cy="635000"/>
          </a:xfrm>
          <a:prstGeom prst="roundRect">
            <a:avLst>
              <a:gd name="adj" fmla="val 5400"/>
            </a:avLst>
          </a:prstGeom>
          <a:solidFill>
            <a:srgbClr val="F5F4FF"/>
          </a:solidFill>
          <a:ln/>
        </p:spPr>
      </p:sp>
      <p:sp>
        <p:nvSpPr>
          <p:cNvPr id="15" name="Text 9"/>
          <p:cNvSpPr/>
          <p:nvPr/>
        </p:nvSpPr>
        <p:spPr>
          <a:xfrm>
            <a:off x="888978" y="3651250"/>
            <a:ext cx="1041373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3PL providers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888978" y="3505200"/>
            <a:ext cx="101597" cy="635000"/>
          </a:xfrm>
          <a:prstGeom prst="roundRect">
            <a:avLst>
              <a:gd name="adj" fmla="val 33750"/>
            </a:avLst>
          </a:prstGeom>
          <a:solidFill>
            <a:srgbClr val="E8428A"/>
          </a:solidFill>
          <a:ln/>
        </p:spPr>
      </p:sp>
      <p:sp>
        <p:nvSpPr>
          <p:cNvPr id="17" name="Shape 11"/>
          <p:cNvSpPr/>
          <p:nvPr/>
        </p:nvSpPr>
        <p:spPr>
          <a:xfrm>
            <a:off x="888978" y="4241800"/>
            <a:ext cx="10413739" cy="635000"/>
          </a:xfrm>
          <a:prstGeom prst="roundRect">
            <a:avLst>
              <a:gd name="adj" fmla="val 5400"/>
            </a:avLst>
          </a:prstGeom>
          <a:solidFill>
            <a:srgbClr val="F5F4FF"/>
          </a:solidFill>
          <a:ln/>
        </p:spPr>
      </p:sp>
      <p:sp>
        <p:nvSpPr>
          <p:cNvPr id="18" name="Text 12"/>
          <p:cNvSpPr/>
          <p:nvPr/>
        </p:nvSpPr>
        <p:spPr>
          <a:xfrm>
            <a:off x="888978" y="4387850"/>
            <a:ext cx="1041373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Supply chain and operations analysts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888978" y="4241800"/>
            <a:ext cx="101597" cy="635000"/>
          </a:xfrm>
          <a:prstGeom prst="roundRect">
            <a:avLst>
              <a:gd name="adj" fmla="val 33750"/>
            </a:avLst>
          </a:prstGeom>
          <a:solidFill>
            <a:srgbClr val="F7941D"/>
          </a:solidFill>
          <a:ln/>
        </p:spPr>
      </p:sp>
      <p:sp>
        <p:nvSpPr>
          <p:cNvPr id="20" name="Shape 14"/>
          <p:cNvSpPr/>
          <p:nvPr/>
        </p:nvSpPr>
        <p:spPr>
          <a:xfrm>
            <a:off x="888978" y="4978400"/>
            <a:ext cx="10413739" cy="635000"/>
          </a:xfrm>
          <a:prstGeom prst="roundRect">
            <a:avLst>
              <a:gd name="adj" fmla="val 5400"/>
            </a:avLst>
          </a:prstGeom>
          <a:solidFill>
            <a:srgbClr val="F5F4FF"/>
          </a:solidFill>
          <a:ln/>
        </p:spPr>
      </p:sp>
      <p:sp>
        <p:nvSpPr>
          <p:cNvPr id="21" name="Text 15"/>
          <p:cNvSpPr/>
          <p:nvPr/>
        </p:nvSpPr>
        <p:spPr>
          <a:xfrm>
            <a:off x="888978" y="5124450"/>
            <a:ext cx="1041373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Industrial engineers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888978" y="4978400"/>
            <a:ext cx="101597" cy="635000"/>
          </a:xfrm>
          <a:prstGeom prst="roundRect">
            <a:avLst>
              <a:gd name="adj" fmla="val 33750"/>
            </a:avLst>
          </a:prstGeom>
          <a:solidFill>
            <a:srgbClr val="E8428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4134" y="-300335"/>
            <a:ext cx="13119962" cy="113625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88" y="267791"/>
            <a:ext cx="871913" cy="871934"/>
          </a:xfrm>
          <a:prstGeom prst="rect">
            <a:avLst/>
          </a:prstGeom>
        </p:spPr>
      </p:pic>
      <p:pic>
        <p:nvPicPr>
          <p:cNvPr id="4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617" y="261144"/>
            <a:ext cx="885009" cy="88503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43220" y="460"/>
                </a:lnTo>
                <a:lnTo>
                  <a:pt x="36710" y="1790"/>
                </a:lnTo>
                <a:lnTo>
                  <a:pt x="30540" y="3930"/>
                </a:lnTo>
                <a:lnTo>
                  <a:pt x="24760" y="6830"/>
                </a:lnTo>
                <a:lnTo>
                  <a:pt x="19450" y="10420"/>
                </a:lnTo>
                <a:lnTo>
                  <a:pt x="14640" y="14640"/>
                </a:lnTo>
                <a:lnTo>
                  <a:pt x="10420" y="19450"/>
                </a:lnTo>
                <a:lnTo>
                  <a:pt x="6830" y="24760"/>
                </a:lnTo>
                <a:lnTo>
                  <a:pt x="3930" y="30540"/>
                </a:lnTo>
                <a:lnTo>
                  <a:pt x="1790" y="36710"/>
                </a:lnTo>
                <a:lnTo>
                  <a:pt x="460" y="43220"/>
                </a:lnTo>
                <a:lnTo>
                  <a:pt x="0" y="50000"/>
                </a:lnTo>
                <a:lnTo>
                  <a:pt x="460" y="56780"/>
                </a:lnTo>
                <a:lnTo>
                  <a:pt x="1790" y="63290"/>
                </a:lnTo>
                <a:lnTo>
                  <a:pt x="3930" y="69460"/>
                </a:lnTo>
                <a:lnTo>
                  <a:pt x="6830" y="75240"/>
                </a:lnTo>
                <a:lnTo>
                  <a:pt x="10420" y="80550"/>
                </a:lnTo>
                <a:lnTo>
                  <a:pt x="14640" y="85360"/>
                </a:lnTo>
                <a:lnTo>
                  <a:pt x="19450" y="89580"/>
                </a:lnTo>
                <a:lnTo>
                  <a:pt x="24760" y="93170"/>
                </a:lnTo>
                <a:lnTo>
                  <a:pt x="30540" y="96070"/>
                </a:lnTo>
                <a:lnTo>
                  <a:pt x="36710" y="98210"/>
                </a:lnTo>
                <a:lnTo>
                  <a:pt x="43220" y="99540"/>
                </a:lnTo>
                <a:lnTo>
                  <a:pt x="50000" y="100000"/>
                </a:lnTo>
                <a:lnTo>
                  <a:pt x="56780" y="99540"/>
                </a:lnTo>
                <a:lnTo>
                  <a:pt x="63290" y="98210"/>
                </a:lnTo>
                <a:lnTo>
                  <a:pt x="69460" y="96070"/>
                </a:lnTo>
                <a:lnTo>
                  <a:pt x="75240" y="93170"/>
                </a:lnTo>
                <a:lnTo>
                  <a:pt x="80550" y="89580"/>
                </a:lnTo>
                <a:lnTo>
                  <a:pt x="85360" y="85360"/>
                </a:lnTo>
                <a:lnTo>
                  <a:pt x="89580" y="80550"/>
                </a:lnTo>
                <a:lnTo>
                  <a:pt x="93170" y="75240"/>
                </a:lnTo>
                <a:lnTo>
                  <a:pt x="96070" y="69460"/>
                </a:lnTo>
                <a:lnTo>
                  <a:pt x="98210" y="63290"/>
                </a:lnTo>
                <a:lnTo>
                  <a:pt x="99540" y="56780"/>
                </a:lnTo>
                <a:lnTo>
                  <a:pt x="100000" y="50000"/>
                </a:lnTo>
                <a:lnTo>
                  <a:pt x="99540" y="43220"/>
                </a:lnTo>
                <a:lnTo>
                  <a:pt x="98210" y="36710"/>
                </a:lnTo>
                <a:lnTo>
                  <a:pt x="96070" y="30540"/>
                </a:lnTo>
                <a:lnTo>
                  <a:pt x="93170" y="24760"/>
                </a:lnTo>
                <a:lnTo>
                  <a:pt x="89580" y="19450"/>
                </a:lnTo>
                <a:lnTo>
                  <a:pt x="85360" y="14640"/>
                </a:lnTo>
                <a:lnTo>
                  <a:pt x="80550" y="10420"/>
                </a:lnTo>
                <a:lnTo>
                  <a:pt x="75240" y="6830"/>
                </a:lnTo>
                <a:lnTo>
                  <a:pt x="69460" y="3930"/>
                </a:lnTo>
                <a:lnTo>
                  <a:pt x="63290" y="1790"/>
                </a:lnTo>
                <a:lnTo>
                  <a:pt x="56780" y="460"/>
                </a:lnTo>
                <a:lnTo>
                  <a:pt x="50000" y="0"/>
                </a:lnTo>
                <a:close/>
              </a:path>
            </a:pathLst>
          </a:cu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4954" y="6172200"/>
            <a:ext cx="13119962" cy="113625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566533" y="6272907"/>
            <a:ext cx="293680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5</a:t>
            </a:r>
            <a:endParaRPr lang="en-US" sz="2650" dirty="0"/>
          </a:p>
        </p:txBody>
      </p:sp>
      <p:sp>
        <p:nvSpPr>
          <p:cNvPr id="7" name="Text 1"/>
          <p:cNvSpPr/>
          <p:nvPr/>
        </p:nvSpPr>
        <p:spPr>
          <a:xfrm>
            <a:off x="817344" y="1204758"/>
            <a:ext cx="10362941" cy="61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3450" b="1" kern="100" spc="156" dirty="0">
                <a:solidFill>
                  <a:srgbClr val="1800AD"/>
                </a:solidFill>
                <a:latin typeface="EB Garamond Bold" pitchFamily="34" charset="0"/>
                <a:ea typeface="EB Garamond Bold" pitchFamily="34" charset="-122"/>
                <a:cs typeface="EB Garamond Bold" pitchFamily="34" charset="0"/>
              </a:rPr>
              <a:t>IMPACT</a:t>
            </a:r>
            <a:endParaRPr lang="en-US" sz="3450" dirty="0"/>
          </a:p>
        </p:txBody>
      </p:sp>
      <p:sp>
        <p:nvSpPr>
          <p:cNvPr id="8" name="Shape 2"/>
          <p:cNvSpPr/>
          <p:nvPr/>
        </p:nvSpPr>
        <p:spPr>
          <a:xfrm>
            <a:off x="888978" y="2032000"/>
            <a:ext cx="3301917" cy="1727200"/>
          </a:xfrm>
          <a:prstGeom prst="roundRect">
            <a:avLst>
              <a:gd name="adj" fmla="val 1985"/>
            </a:avLst>
          </a:prstGeom>
          <a:solidFill>
            <a:srgbClr val="EEEDFF"/>
          </a:solidFill>
          <a:ln/>
        </p:spPr>
      </p:sp>
      <p:sp>
        <p:nvSpPr>
          <p:cNvPr id="9" name="Shape 3"/>
          <p:cNvSpPr/>
          <p:nvPr/>
        </p:nvSpPr>
        <p:spPr>
          <a:xfrm>
            <a:off x="888978" y="2032000"/>
            <a:ext cx="3301917" cy="63500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10" name="Text 4"/>
          <p:cNvSpPr/>
          <p:nvPr/>
        </p:nvSpPr>
        <p:spPr>
          <a:xfrm>
            <a:off x="1117572" y="2476500"/>
            <a:ext cx="28447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800AD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Reduced path traveled by person</a:t>
            </a:r>
            <a:endParaRPr lang="en-US" sz="1800" dirty="0"/>
          </a:p>
        </p:txBody>
      </p:sp>
      <p:sp>
        <p:nvSpPr>
          <p:cNvPr id="11" name="Shape 5"/>
          <p:cNvSpPr/>
          <p:nvPr/>
        </p:nvSpPr>
        <p:spPr>
          <a:xfrm>
            <a:off x="4444889" y="2032000"/>
            <a:ext cx="3301917" cy="1727200"/>
          </a:xfrm>
          <a:prstGeom prst="roundRect">
            <a:avLst>
              <a:gd name="adj" fmla="val 1985"/>
            </a:avLst>
          </a:prstGeom>
          <a:solidFill>
            <a:srgbClr val="FDE7F1"/>
          </a:solidFill>
          <a:ln/>
        </p:spPr>
      </p:sp>
      <p:sp>
        <p:nvSpPr>
          <p:cNvPr id="12" name="Shape 6"/>
          <p:cNvSpPr/>
          <p:nvPr/>
        </p:nvSpPr>
        <p:spPr>
          <a:xfrm>
            <a:off x="4444889" y="2032000"/>
            <a:ext cx="3301917" cy="63500"/>
          </a:xfrm>
          <a:prstGeom prst="rect">
            <a:avLst/>
          </a:prstGeom>
          <a:solidFill>
            <a:srgbClr val="E8428A"/>
          </a:solidFill>
          <a:ln/>
        </p:spPr>
      </p:sp>
      <p:sp>
        <p:nvSpPr>
          <p:cNvPr id="13" name="Text 7"/>
          <p:cNvSpPr/>
          <p:nvPr/>
        </p:nvSpPr>
        <p:spPr>
          <a:xfrm>
            <a:off x="4368691" y="2476500"/>
            <a:ext cx="345431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Better space utilization</a:t>
            </a:r>
            <a:endParaRPr lang="en-US" sz="1800" dirty="0"/>
          </a:p>
        </p:txBody>
      </p:sp>
      <p:sp>
        <p:nvSpPr>
          <p:cNvPr id="14" name="Shape 8"/>
          <p:cNvSpPr/>
          <p:nvPr/>
        </p:nvSpPr>
        <p:spPr>
          <a:xfrm>
            <a:off x="8000800" y="2032000"/>
            <a:ext cx="3301917" cy="1727200"/>
          </a:xfrm>
          <a:prstGeom prst="roundRect">
            <a:avLst>
              <a:gd name="adj" fmla="val 1985"/>
            </a:avLst>
          </a:prstGeom>
          <a:solidFill>
            <a:srgbClr val="FFF1E0"/>
          </a:solidFill>
          <a:ln/>
        </p:spPr>
      </p:sp>
      <p:sp>
        <p:nvSpPr>
          <p:cNvPr id="15" name="Shape 9"/>
          <p:cNvSpPr/>
          <p:nvPr/>
        </p:nvSpPr>
        <p:spPr>
          <a:xfrm>
            <a:off x="8000800" y="2032000"/>
            <a:ext cx="3301917" cy="6350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6" name="Text 10"/>
          <p:cNvSpPr/>
          <p:nvPr/>
        </p:nvSpPr>
        <p:spPr>
          <a:xfrm>
            <a:off x="7924602" y="2476500"/>
            <a:ext cx="345431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Improved safety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888978" y="3911600"/>
            <a:ext cx="3301917" cy="1727200"/>
          </a:xfrm>
          <a:prstGeom prst="roundRect">
            <a:avLst>
              <a:gd name="adj" fmla="val 1985"/>
            </a:avLst>
          </a:prstGeom>
          <a:solidFill>
            <a:srgbClr val="E9F0FF"/>
          </a:solidFill>
          <a:ln/>
        </p:spPr>
      </p:sp>
      <p:sp>
        <p:nvSpPr>
          <p:cNvPr id="18" name="Shape 12"/>
          <p:cNvSpPr/>
          <p:nvPr/>
        </p:nvSpPr>
        <p:spPr>
          <a:xfrm>
            <a:off x="888978" y="3911600"/>
            <a:ext cx="3301917" cy="63500"/>
          </a:xfrm>
          <a:prstGeom prst="rect">
            <a:avLst/>
          </a:prstGeom>
          <a:solidFill>
            <a:srgbClr val="3533CD"/>
          </a:solidFill>
          <a:ln/>
        </p:spPr>
      </p:sp>
      <p:sp>
        <p:nvSpPr>
          <p:cNvPr id="19" name="Text 13"/>
          <p:cNvSpPr/>
          <p:nvPr/>
        </p:nvSpPr>
        <p:spPr>
          <a:xfrm>
            <a:off x="812780" y="4356100"/>
            <a:ext cx="345431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3533CD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Ergonomic benefits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4444889" y="3911600"/>
            <a:ext cx="3301917" cy="1727200"/>
          </a:xfrm>
          <a:prstGeom prst="roundRect">
            <a:avLst>
              <a:gd name="adj" fmla="val 1985"/>
            </a:avLst>
          </a:prstGeom>
          <a:solidFill>
            <a:srgbClr val="FDE7F1"/>
          </a:solidFill>
          <a:ln/>
        </p:spPr>
      </p:sp>
      <p:sp>
        <p:nvSpPr>
          <p:cNvPr id="21" name="Shape 15"/>
          <p:cNvSpPr/>
          <p:nvPr/>
        </p:nvSpPr>
        <p:spPr>
          <a:xfrm>
            <a:off x="4444889" y="3911600"/>
            <a:ext cx="3301917" cy="63500"/>
          </a:xfrm>
          <a:prstGeom prst="rect">
            <a:avLst/>
          </a:prstGeom>
          <a:solidFill>
            <a:srgbClr val="E8428A"/>
          </a:solidFill>
          <a:ln/>
        </p:spPr>
      </p:sp>
      <p:sp>
        <p:nvSpPr>
          <p:cNvPr id="22" name="Text 16"/>
          <p:cNvSpPr/>
          <p:nvPr/>
        </p:nvSpPr>
        <p:spPr>
          <a:xfrm>
            <a:off x="4368691" y="4356100"/>
            <a:ext cx="345431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Cost and time efficiency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8000800" y="3911600"/>
            <a:ext cx="3301917" cy="1727200"/>
          </a:xfrm>
          <a:prstGeom prst="roundRect">
            <a:avLst>
              <a:gd name="adj" fmla="val 1985"/>
            </a:avLst>
          </a:prstGeom>
          <a:solidFill>
            <a:srgbClr val="EEEDFF"/>
          </a:solidFill>
          <a:ln/>
        </p:spPr>
      </p:sp>
      <p:sp>
        <p:nvSpPr>
          <p:cNvPr id="24" name="Shape 18"/>
          <p:cNvSpPr/>
          <p:nvPr/>
        </p:nvSpPr>
        <p:spPr>
          <a:xfrm>
            <a:off x="8000800" y="3911600"/>
            <a:ext cx="3301917" cy="63500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25" name="Text 19"/>
          <p:cNvSpPr/>
          <p:nvPr/>
        </p:nvSpPr>
        <p:spPr>
          <a:xfrm>
            <a:off x="7924602" y="4356100"/>
            <a:ext cx="345431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800AD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Data-driven decisions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4134" y="-300335"/>
            <a:ext cx="13119962" cy="113625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88" y="267791"/>
            <a:ext cx="871913" cy="871934"/>
          </a:xfrm>
          <a:prstGeom prst="rect">
            <a:avLst/>
          </a:prstGeom>
        </p:spPr>
      </p:pic>
      <p:pic>
        <p:nvPicPr>
          <p:cNvPr id="4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617" y="261144"/>
            <a:ext cx="885009" cy="88503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43220" y="460"/>
                </a:lnTo>
                <a:lnTo>
                  <a:pt x="36710" y="1790"/>
                </a:lnTo>
                <a:lnTo>
                  <a:pt x="30540" y="3930"/>
                </a:lnTo>
                <a:lnTo>
                  <a:pt x="24760" y="6830"/>
                </a:lnTo>
                <a:lnTo>
                  <a:pt x="19450" y="10420"/>
                </a:lnTo>
                <a:lnTo>
                  <a:pt x="14640" y="14640"/>
                </a:lnTo>
                <a:lnTo>
                  <a:pt x="10420" y="19450"/>
                </a:lnTo>
                <a:lnTo>
                  <a:pt x="6830" y="24760"/>
                </a:lnTo>
                <a:lnTo>
                  <a:pt x="3930" y="30540"/>
                </a:lnTo>
                <a:lnTo>
                  <a:pt x="1790" y="36710"/>
                </a:lnTo>
                <a:lnTo>
                  <a:pt x="460" y="43220"/>
                </a:lnTo>
                <a:lnTo>
                  <a:pt x="0" y="50000"/>
                </a:lnTo>
                <a:lnTo>
                  <a:pt x="460" y="56780"/>
                </a:lnTo>
                <a:lnTo>
                  <a:pt x="1790" y="63290"/>
                </a:lnTo>
                <a:lnTo>
                  <a:pt x="3930" y="69460"/>
                </a:lnTo>
                <a:lnTo>
                  <a:pt x="6830" y="75240"/>
                </a:lnTo>
                <a:lnTo>
                  <a:pt x="10420" y="80550"/>
                </a:lnTo>
                <a:lnTo>
                  <a:pt x="14640" y="85360"/>
                </a:lnTo>
                <a:lnTo>
                  <a:pt x="19450" y="89580"/>
                </a:lnTo>
                <a:lnTo>
                  <a:pt x="24760" y="93170"/>
                </a:lnTo>
                <a:lnTo>
                  <a:pt x="30540" y="96070"/>
                </a:lnTo>
                <a:lnTo>
                  <a:pt x="36710" y="98210"/>
                </a:lnTo>
                <a:lnTo>
                  <a:pt x="43220" y="99540"/>
                </a:lnTo>
                <a:lnTo>
                  <a:pt x="50000" y="100000"/>
                </a:lnTo>
                <a:lnTo>
                  <a:pt x="56780" y="99540"/>
                </a:lnTo>
                <a:lnTo>
                  <a:pt x="63290" y="98210"/>
                </a:lnTo>
                <a:lnTo>
                  <a:pt x="69460" y="96070"/>
                </a:lnTo>
                <a:lnTo>
                  <a:pt x="75240" y="93170"/>
                </a:lnTo>
                <a:lnTo>
                  <a:pt x="80550" y="89580"/>
                </a:lnTo>
                <a:lnTo>
                  <a:pt x="85360" y="85360"/>
                </a:lnTo>
                <a:lnTo>
                  <a:pt x="89580" y="80550"/>
                </a:lnTo>
                <a:lnTo>
                  <a:pt x="93170" y="75240"/>
                </a:lnTo>
                <a:lnTo>
                  <a:pt x="96070" y="69460"/>
                </a:lnTo>
                <a:lnTo>
                  <a:pt x="98210" y="63290"/>
                </a:lnTo>
                <a:lnTo>
                  <a:pt x="99540" y="56780"/>
                </a:lnTo>
                <a:lnTo>
                  <a:pt x="100000" y="50000"/>
                </a:lnTo>
                <a:lnTo>
                  <a:pt x="99540" y="43220"/>
                </a:lnTo>
                <a:lnTo>
                  <a:pt x="98210" y="36710"/>
                </a:lnTo>
                <a:lnTo>
                  <a:pt x="96070" y="30540"/>
                </a:lnTo>
                <a:lnTo>
                  <a:pt x="93170" y="24760"/>
                </a:lnTo>
                <a:lnTo>
                  <a:pt x="89580" y="19450"/>
                </a:lnTo>
                <a:lnTo>
                  <a:pt x="85360" y="14640"/>
                </a:lnTo>
                <a:lnTo>
                  <a:pt x="80550" y="10420"/>
                </a:lnTo>
                <a:lnTo>
                  <a:pt x="75240" y="6830"/>
                </a:lnTo>
                <a:lnTo>
                  <a:pt x="69460" y="3930"/>
                </a:lnTo>
                <a:lnTo>
                  <a:pt x="63290" y="1790"/>
                </a:lnTo>
                <a:lnTo>
                  <a:pt x="56780" y="460"/>
                </a:lnTo>
                <a:lnTo>
                  <a:pt x="50000" y="0"/>
                </a:lnTo>
                <a:close/>
              </a:path>
            </a:pathLst>
          </a:cu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4954" y="6172200"/>
            <a:ext cx="13119962" cy="113625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566533" y="6272907"/>
            <a:ext cx="293680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6</a:t>
            </a:r>
            <a:endParaRPr lang="en-US" sz="2650" dirty="0"/>
          </a:p>
        </p:txBody>
      </p:sp>
      <p:sp>
        <p:nvSpPr>
          <p:cNvPr id="7" name="Text 1"/>
          <p:cNvSpPr/>
          <p:nvPr/>
        </p:nvSpPr>
        <p:spPr>
          <a:xfrm>
            <a:off x="817344" y="1204758"/>
            <a:ext cx="10362941" cy="61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3450" b="1" kern="100" spc="156" dirty="0">
                <a:solidFill>
                  <a:srgbClr val="1800AD"/>
                </a:solidFill>
                <a:latin typeface="EB Garamond Bold" pitchFamily="34" charset="0"/>
                <a:ea typeface="EB Garamond Bold" pitchFamily="34" charset="-122"/>
                <a:cs typeface="EB Garamond Bold" pitchFamily="34" charset="0"/>
              </a:rPr>
              <a:t>NOVELTY AND INNOVATION</a:t>
            </a:r>
            <a:endParaRPr lang="en-US" sz="3450" dirty="0"/>
          </a:p>
        </p:txBody>
      </p:sp>
      <p:sp>
        <p:nvSpPr>
          <p:cNvPr id="8" name="Shape 2"/>
          <p:cNvSpPr/>
          <p:nvPr/>
        </p:nvSpPr>
        <p:spPr>
          <a:xfrm>
            <a:off x="888978" y="203200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EEEDFF"/>
          </a:solidFill>
          <a:ln/>
        </p:spPr>
      </p:sp>
      <p:sp>
        <p:nvSpPr>
          <p:cNvPr id="9" name="Text 3"/>
          <p:cNvSpPr/>
          <p:nvPr/>
        </p:nvSpPr>
        <p:spPr>
          <a:xfrm>
            <a:off x="965176" y="2403475"/>
            <a:ext cx="500367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Constraint-first validation</a:t>
            </a:r>
            <a:endParaRPr lang="en-US" sz="1700" dirty="0"/>
          </a:p>
        </p:txBody>
      </p:sp>
      <p:sp>
        <p:nvSpPr>
          <p:cNvPr id="10" name="Shape 4"/>
          <p:cNvSpPr/>
          <p:nvPr/>
        </p:nvSpPr>
        <p:spPr>
          <a:xfrm>
            <a:off x="888978" y="2032000"/>
            <a:ext cx="101597" cy="1066800"/>
          </a:xfrm>
          <a:prstGeom prst="roundRect">
            <a:avLst>
              <a:gd name="adj" fmla="val 33750"/>
            </a:avLst>
          </a:prstGeom>
          <a:solidFill>
            <a:srgbClr val="1800AD"/>
          </a:solidFill>
          <a:ln/>
        </p:spPr>
      </p:sp>
      <p:sp>
        <p:nvSpPr>
          <p:cNvPr id="11" name="Shape 5"/>
          <p:cNvSpPr/>
          <p:nvPr/>
        </p:nvSpPr>
        <p:spPr>
          <a:xfrm>
            <a:off x="6222844" y="203200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EEEDFF"/>
          </a:solidFill>
          <a:ln/>
        </p:spPr>
      </p:sp>
      <p:sp>
        <p:nvSpPr>
          <p:cNvPr id="12" name="Text 6"/>
          <p:cNvSpPr/>
          <p:nvPr/>
        </p:nvSpPr>
        <p:spPr>
          <a:xfrm>
            <a:off x="6603835" y="2241550"/>
            <a:ext cx="439409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Inventory-conserving slotting with multi-bin placement</a:t>
            </a:r>
            <a:endParaRPr lang="en-US" sz="1700" dirty="0"/>
          </a:p>
        </p:txBody>
      </p:sp>
      <p:sp>
        <p:nvSpPr>
          <p:cNvPr id="13" name="Shape 7"/>
          <p:cNvSpPr/>
          <p:nvPr/>
        </p:nvSpPr>
        <p:spPr>
          <a:xfrm>
            <a:off x="6222844" y="2032000"/>
            <a:ext cx="101597" cy="1066800"/>
          </a:xfrm>
          <a:prstGeom prst="roundRect">
            <a:avLst>
              <a:gd name="adj" fmla="val 33750"/>
            </a:avLst>
          </a:prstGeom>
          <a:solidFill>
            <a:srgbClr val="1800AD"/>
          </a:solidFill>
          <a:ln/>
        </p:spPr>
      </p:sp>
      <p:sp>
        <p:nvSpPr>
          <p:cNvPr id="14" name="Shape 8"/>
          <p:cNvSpPr/>
          <p:nvPr/>
        </p:nvSpPr>
        <p:spPr>
          <a:xfrm>
            <a:off x="888978" y="325120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FDE7F1"/>
          </a:solidFill>
          <a:ln/>
        </p:spPr>
      </p:sp>
      <p:sp>
        <p:nvSpPr>
          <p:cNvPr id="15" name="Text 9"/>
          <p:cNvSpPr/>
          <p:nvPr/>
        </p:nvSpPr>
        <p:spPr>
          <a:xfrm>
            <a:off x="965176" y="3622675"/>
            <a:ext cx="500367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Demand plus affinity awareness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888978" y="3251200"/>
            <a:ext cx="101597" cy="1066800"/>
          </a:xfrm>
          <a:prstGeom prst="roundRect">
            <a:avLst>
              <a:gd name="adj" fmla="val 33750"/>
            </a:avLst>
          </a:prstGeom>
          <a:solidFill>
            <a:srgbClr val="E8428A"/>
          </a:solidFill>
          <a:ln/>
        </p:spPr>
      </p:sp>
      <p:sp>
        <p:nvSpPr>
          <p:cNvPr id="17" name="Shape 11"/>
          <p:cNvSpPr/>
          <p:nvPr/>
        </p:nvSpPr>
        <p:spPr>
          <a:xfrm>
            <a:off x="6222844" y="325120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FDE7F1"/>
          </a:solidFill>
          <a:ln/>
        </p:spPr>
      </p:sp>
      <p:sp>
        <p:nvSpPr>
          <p:cNvPr id="18" name="Text 12"/>
          <p:cNvSpPr/>
          <p:nvPr/>
        </p:nvSpPr>
        <p:spPr>
          <a:xfrm>
            <a:off x="6299042" y="3622675"/>
            <a:ext cx="500367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Real aisle-network routing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6222844" y="3251200"/>
            <a:ext cx="101597" cy="1066800"/>
          </a:xfrm>
          <a:prstGeom prst="roundRect">
            <a:avLst>
              <a:gd name="adj" fmla="val 33750"/>
            </a:avLst>
          </a:prstGeom>
          <a:solidFill>
            <a:srgbClr val="E8428A"/>
          </a:solidFill>
          <a:ln/>
        </p:spPr>
      </p:sp>
      <p:sp>
        <p:nvSpPr>
          <p:cNvPr id="20" name="Shape 14"/>
          <p:cNvSpPr/>
          <p:nvPr/>
        </p:nvSpPr>
        <p:spPr>
          <a:xfrm>
            <a:off x="888978" y="447040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FFF1E0"/>
          </a:solidFill>
          <a:ln/>
        </p:spPr>
      </p:sp>
      <p:sp>
        <p:nvSpPr>
          <p:cNvPr id="21" name="Text 15"/>
          <p:cNvSpPr/>
          <p:nvPr/>
        </p:nvSpPr>
        <p:spPr>
          <a:xfrm>
            <a:off x="965176" y="4841875"/>
            <a:ext cx="500367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Fair baseline vs optimized comparison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888978" y="4470400"/>
            <a:ext cx="101597" cy="1066800"/>
          </a:xfrm>
          <a:prstGeom prst="roundRect">
            <a:avLst>
              <a:gd name="adj" fmla="val 33750"/>
            </a:avLst>
          </a:prstGeom>
          <a:solidFill>
            <a:srgbClr val="F7941D"/>
          </a:solidFill>
          <a:ln/>
        </p:spPr>
      </p:sp>
      <p:sp>
        <p:nvSpPr>
          <p:cNvPr id="23" name="Shape 17"/>
          <p:cNvSpPr/>
          <p:nvPr/>
        </p:nvSpPr>
        <p:spPr>
          <a:xfrm>
            <a:off x="6222844" y="447040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FFF1E0"/>
          </a:solidFill>
          <a:ln/>
        </p:spPr>
      </p:sp>
      <p:sp>
        <p:nvSpPr>
          <p:cNvPr id="24" name="Text 18"/>
          <p:cNvSpPr/>
          <p:nvPr/>
        </p:nvSpPr>
        <p:spPr>
          <a:xfrm>
            <a:off x="6299042" y="4841875"/>
            <a:ext cx="500367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Per-person path analysis</a:t>
            </a:r>
            <a:endParaRPr lang="en-US" sz="1700" dirty="0"/>
          </a:p>
        </p:txBody>
      </p:sp>
      <p:sp>
        <p:nvSpPr>
          <p:cNvPr id="25" name="Shape 19"/>
          <p:cNvSpPr/>
          <p:nvPr/>
        </p:nvSpPr>
        <p:spPr>
          <a:xfrm>
            <a:off x="6222844" y="4470400"/>
            <a:ext cx="101597" cy="1066800"/>
          </a:xfrm>
          <a:prstGeom prst="roundRect">
            <a:avLst>
              <a:gd name="adj" fmla="val 33750"/>
            </a:avLst>
          </a:prstGeom>
          <a:solidFill>
            <a:srgbClr val="F7941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4134" y="-300335"/>
            <a:ext cx="13119962" cy="113625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88" y="267791"/>
            <a:ext cx="871913" cy="871934"/>
          </a:xfrm>
          <a:prstGeom prst="rect">
            <a:avLst/>
          </a:prstGeom>
        </p:spPr>
      </p:pic>
      <p:pic>
        <p:nvPicPr>
          <p:cNvPr id="4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617" y="261144"/>
            <a:ext cx="885009" cy="88503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43220" y="460"/>
                </a:lnTo>
                <a:lnTo>
                  <a:pt x="36710" y="1790"/>
                </a:lnTo>
                <a:lnTo>
                  <a:pt x="30540" y="3930"/>
                </a:lnTo>
                <a:lnTo>
                  <a:pt x="24760" y="6830"/>
                </a:lnTo>
                <a:lnTo>
                  <a:pt x="19450" y="10420"/>
                </a:lnTo>
                <a:lnTo>
                  <a:pt x="14640" y="14640"/>
                </a:lnTo>
                <a:lnTo>
                  <a:pt x="10420" y="19450"/>
                </a:lnTo>
                <a:lnTo>
                  <a:pt x="6830" y="24760"/>
                </a:lnTo>
                <a:lnTo>
                  <a:pt x="3930" y="30540"/>
                </a:lnTo>
                <a:lnTo>
                  <a:pt x="1790" y="36710"/>
                </a:lnTo>
                <a:lnTo>
                  <a:pt x="460" y="43220"/>
                </a:lnTo>
                <a:lnTo>
                  <a:pt x="0" y="50000"/>
                </a:lnTo>
                <a:lnTo>
                  <a:pt x="460" y="56780"/>
                </a:lnTo>
                <a:lnTo>
                  <a:pt x="1790" y="63290"/>
                </a:lnTo>
                <a:lnTo>
                  <a:pt x="3930" y="69460"/>
                </a:lnTo>
                <a:lnTo>
                  <a:pt x="6830" y="75240"/>
                </a:lnTo>
                <a:lnTo>
                  <a:pt x="10420" y="80550"/>
                </a:lnTo>
                <a:lnTo>
                  <a:pt x="14640" y="85360"/>
                </a:lnTo>
                <a:lnTo>
                  <a:pt x="19450" y="89580"/>
                </a:lnTo>
                <a:lnTo>
                  <a:pt x="24760" y="93170"/>
                </a:lnTo>
                <a:lnTo>
                  <a:pt x="30540" y="96070"/>
                </a:lnTo>
                <a:lnTo>
                  <a:pt x="36710" y="98210"/>
                </a:lnTo>
                <a:lnTo>
                  <a:pt x="43220" y="99540"/>
                </a:lnTo>
                <a:lnTo>
                  <a:pt x="50000" y="100000"/>
                </a:lnTo>
                <a:lnTo>
                  <a:pt x="56780" y="99540"/>
                </a:lnTo>
                <a:lnTo>
                  <a:pt x="63290" y="98210"/>
                </a:lnTo>
                <a:lnTo>
                  <a:pt x="69460" y="96070"/>
                </a:lnTo>
                <a:lnTo>
                  <a:pt x="75240" y="93170"/>
                </a:lnTo>
                <a:lnTo>
                  <a:pt x="80550" y="89580"/>
                </a:lnTo>
                <a:lnTo>
                  <a:pt x="85360" y="85360"/>
                </a:lnTo>
                <a:lnTo>
                  <a:pt x="89580" y="80550"/>
                </a:lnTo>
                <a:lnTo>
                  <a:pt x="93170" y="75240"/>
                </a:lnTo>
                <a:lnTo>
                  <a:pt x="96070" y="69460"/>
                </a:lnTo>
                <a:lnTo>
                  <a:pt x="98210" y="63290"/>
                </a:lnTo>
                <a:lnTo>
                  <a:pt x="99540" y="56780"/>
                </a:lnTo>
                <a:lnTo>
                  <a:pt x="100000" y="50000"/>
                </a:lnTo>
                <a:lnTo>
                  <a:pt x="99540" y="43220"/>
                </a:lnTo>
                <a:lnTo>
                  <a:pt x="98210" y="36710"/>
                </a:lnTo>
                <a:lnTo>
                  <a:pt x="96070" y="30540"/>
                </a:lnTo>
                <a:lnTo>
                  <a:pt x="93170" y="24760"/>
                </a:lnTo>
                <a:lnTo>
                  <a:pt x="89580" y="19450"/>
                </a:lnTo>
                <a:lnTo>
                  <a:pt x="85360" y="14640"/>
                </a:lnTo>
                <a:lnTo>
                  <a:pt x="80550" y="10420"/>
                </a:lnTo>
                <a:lnTo>
                  <a:pt x="75240" y="6830"/>
                </a:lnTo>
                <a:lnTo>
                  <a:pt x="69460" y="3930"/>
                </a:lnTo>
                <a:lnTo>
                  <a:pt x="63290" y="1790"/>
                </a:lnTo>
                <a:lnTo>
                  <a:pt x="56780" y="460"/>
                </a:lnTo>
                <a:lnTo>
                  <a:pt x="50000" y="0"/>
                </a:lnTo>
                <a:close/>
              </a:path>
            </a:pathLst>
          </a:cu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4954" y="6172200"/>
            <a:ext cx="13119962" cy="113625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566533" y="6272907"/>
            <a:ext cx="293680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7</a:t>
            </a:r>
            <a:endParaRPr lang="en-US" sz="2650" dirty="0"/>
          </a:p>
        </p:txBody>
      </p:sp>
      <p:sp>
        <p:nvSpPr>
          <p:cNvPr id="7" name="Text 1"/>
          <p:cNvSpPr/>
          <p:nvPr/>
        </p:nvSpPr>
        <p:spPr>
          <a:xfrm>
            <a:off x="817344" y="1204758"/>
            <a:ext cx="10362941" cy="61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3450" b="1" kern="100" spc="156" dirty="0">
                <a:solidFill>
                  <a:srgbClr val="1800AD"/>
                </a:solidFill>
                <a:latin typeface="EB Garamond Bold" pitchFamily="34" charset="0"/>
                <a:ea typeface="EB Garamond Bold" pitchFamily="34" charset="-122"/>
                <a:cs typeface="EB Garamond Bold" pitchFamily="34" charset="0"/>
              </a:rPr>
              <a:t>USABILITY AND DESIRABILITY</a:t>
            </a:r>
            <a:endParaRPr lang="en-US" sz="3450" dirty="0"/>
          </a:p>
        </p:txBody>
      </p:sp>
      <p:sp>
        <p:nvSpPr>
          <p:cNvPr id="8" name="Shape 2"/>
          <p:cNvSpPr/>
          <p:nvPr/>
        </p:nvSpPr>
        <p:spPr>
          <a:xfrm>
            <a:off x="888978" y="203200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/>
        </p:spPr>
      </p:sp>
      <p:sp>
        <p:nvSpPr>
          <p:cNvPr id="9" name="Text 3"/>
          <p:cNvSpPr/>
          <p:nvPr/>
        </p:nvSpPr>
        <p:spPr>
          <a:xfrm>
            <a:off x="965176" y="2403475"/>
            <a:ext cx="500367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CLI plus Streamlit dashboard tabs</a:t>
            </a:r>
            <a:endParaRPr lang="en-US" sz="1700" dirty="0"/>
          </a:p>
        </p:txBody>
      </p:sp>
      <p:sp>
        <p:nvSpPr>
          <p:cNvPr id="10" name="Shape 4"/>
          <p:cNvSpPr/>
          <p:nvPr/>
        </p:nvSpPr>
        <p:spPr>
          <a:xfrm>
            <a:off x="888978" y="2032000"/>
            <a:ext cx="5079873" cy="1066800"/>
          </a:xfrm>
          <a:prstGeom prst="roundRect">
            <a:avLst>
              <a:gd name="adj" fmla="val 3214"/>
            </a:avLst>
          </a:prstGeom>
          <a:noFill/>
          <a:ln w="19050">
            <a:solidFill>
              <a:srgbClr val="3533CD"/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888978" y="2032000"/>
            <a:ext cx="101597" cy="1066800"/>
          </a:xfrm>
          <a:prstGeom prst="roundRect">
            <a:avLst>
              <a:gd name="adj" fmla="val 33750"/>
            </a:avLst>
          </a:prstGeom>
          <a:solidFill>
            <a:srgbClr val="3533CD"/>
          </a:solidFill>
          <a:ln/>
        </p:spPr>
      </p:sp>
      <p:sp>
        <p:nvSpPr>
          <p:cNvPr id="12" name="Shape 6"/>
          <p:cNvSpPr/>
          <p:nvPr/>
        </p:nvSpPr>
        <p:spPr>
          <a:xfrm>
            <a:off x="6222844" y="203200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/>
        </p:spPr>
      </p:sp>
      <p:sp>
        <p:nvSpPr>
          <p:cNvPr id="13" name="Text 7"/>
          <p:cNvSpPr/>
          <p:nvPr/>
        </p:nvSpPr>
        <p:spPr>
          <a:xfrm>
            <a:off x="6299042" y="2403475"/>
            <a:ext cx="500367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Baseline vs optimized KPIs</a:t>
            </a:r>
            <a:endParaRPr lang="en-US" sz="1700" dirty="0"/>
          </a:p>
        </p:txBody>
      </p:sp>
      <p:sp>
        <p:nvSpPr>
          <p:cNvPr id="14" name="Shape 8"/>
          <p:cNvSpPr/>
          <p:nvPr/>
        </p:nvSpPr>
        <p:spPr>
          <a:xfrm>
            <a:off x="6222844" y="2032000"/>
            <a:ext cx="5079873" cy="1066800"/>
          </a:xfrm>
          <a:prstGeom prst="roundRect">
            <a:avLst>
              <a:gd name="adj" fmla="val 3214"/>
            </a:avLst>
          </a:prstGeom>
          <a:noFill/>
          <a:ln w="19050">
            <a:solidFill>
              <a:srgbClr val="3533CD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6222844" y="2032000"/>
            <a:ext cx="101597" cy="1066800"/>
          </a:xfrm>
          <a:prstGeom prst="roundRect">
            <a:avLst>
              <a:gd name="adj" fmla="val 33750"/>
            </a:avLst>
          </a:prstGeom>
          <a:solidFill>
            <a:srgbClr val="3533CD"/>
          </a:solidFill>
          <a:ln/>
        </p:spPr>
      </p:sp>
      <p:sp>
        <p:nvSpPr>
          <p:cNvPr id="16" name="Shape 10"/>
          <p:cNvSpPr/>
          <p:nvPr/>
        </p:nvSpPr>
        <p:spPr>
          <a:xfrm>
            <a:off x="888978" y="325120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/>
        </p:spPr>
      </p:sp>
      <p:sp>
        <p:nvSpPr>
          <p:cNvPr id="17" name="Text 11"/>
          <p:cNvSpPr/>
          <p:nvPr/>
        </p:nvSpPr>
        <p:spPr>
          <a:xfrm>
            <a:off x="965176" y="3622675"/>
            <a:ext cx="500367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Clean 3x3 zone view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888978" y="3251200"/>
            <a:ext cx="5079873" cy="1066800"/>
          </a:xfrm>
          <a:prstGeom prst="roundRect">
            <a:avLst>
              <a:gd name="adj" fmla="val 3214"/>
            </a:avLst>
          </a:prstGeom>
          <a:noFill/>
          <a:ln w="19050">
            <a:solidFill>
              <a:srgbClr val="E8428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88978" y="3251200"/>
            <a:ext cx="101597" cy="1066800"/>
          </a:xfrm>
          <a:prstGeom prst="roundRect">
            <a:avLst>
              <a:gd name="adj" fmla="val 33750"/>
            </a:avLst>
          </a:prstGeom>
          <a:solidFill>
            <a:srgbClr val="E8428A"/>
          </a:solidFill>
          <a:ln/>
        </p:spPr>
      </p:sp>
      <p:sp>
        <p:nvSpPr>
          <p:cNvPr id="20" name="Shape 14"/>
          <p:cNvSpPr/>
          <p:nvPr/>
        </p:nvSpPr>
        <p:spPr>
          <a:xfrm>
            <a:off x="6222844" y="325120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/>
        </p:spPr>
      </p:sp>
      <p:sp>
        <p:nvSpPr>
          <p:cNvPr id="21" name="Text 15"/>
          <p:cNvSpPr/>
          <p:nvPr/>
        </p:nvSpPr>
        <p:spPr>
          <a:xfrm>
            <a:off x="6299042" y="3622675"/>
            <a:ext cx="500367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Visual pick routes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6222844" y="3251200"/>
            <a:ext cx="5079873" cy="1066800"/>
          </a:xfrm>
          <a:prstGeom prst="roundRect">
            <a:avLst>
              <a:gd name="adj" fmla="val 3214"/>
            </a:avLst>
          </a:prstGeom>
          <a:noFill/>
          <a:ln w="19050">
            <a:solidFill>
              <a:srgbClr val="E8428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222844" y="3251200"/>
            <a:ext cx="101597" cy="1066800"/>
          </a:xfrm>
          <a:prstGeom prst="roundRect">
            <a:avLst>
              <a:gd name="adj" fmla="val 33750"/>
            </a:avLst>
          </a:prstGeom>
          <a:solidFill>
            <a:srgbClr val="E8428A"/>
          </a:solidFill>
          <a:ln/>
        </p:spPr>
      </p:sp>
      <p:sp>
        <p:nvSpPr>
          <p:cNvPr id="24" name="Shape 18"/>
          <p:cNvSpPr/>
          <p:nvPr/>
        </p:nvSpPr>
        <p:spPr>
          <a:xfrm>
            <a:off x="888978" y="447040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/>
        </p:spPr>
      </p:sp>
      <p:sp>
        <p:nvSpPr>
          <p:cNvPr id="25" name="Text 19"/>
          <p:cNvSpPr/>
          <p:nvPr/>
        </p:nvSpPr>
        <p:spPr>
          <a:xfrm>
            <a:off x="965176" y="4841875"/>
            <a:ext cx="500367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CSV input and feasibility flags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888978" y="4470400"/>
            <a:ext cx="5079873" cy="1066800"/>
          </a:xfrm>
          <a:prstGeom prst="roundRect">
            <a:avLst>
              <a:gd name="adj" fmla="val 3214"/>
            </a:avLst>
          </a:prstGeom>
          <a:noFill/>
          <a:ln w="19050">
            <a:solidFill>
              <a:srgbClr val="F7941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88978" y="4470400"/>
            <a:ext cx="101597" cy="1066800"/>
          </a:xfrm>
          <a:prstGeom prst="roundRect">
            <a:avLst>
              <a:gd name="adj" fmla="val 33750"/>
            </a:avLst>
          </a:prstGeom>
          <a:solidFill>
            <a:srgbClr val="F7941D"/>
          </a:solidFill>
          <a:ln/>
        </p:spPr>
      </p:sp>
      <p:sp>
        <p:nvSpPr>
          <p:cNvPr id="28" name="Shape 22"/>
          <p:cNvSpPr/>
          <p:nvPr/>
        </p:nvSpPr>
        <p:spPr>
          <a:xfrm>
            <a:off x="6222844" y="4470400"/>
            <a:ext cx="5079873" cy="10668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/>
        </p:spPr>
      </p:sp>
      <p:sp>
        <p:nvSpPr>
          <p:cNvPr id="29" name="Text 23"/>
          <p:cNvSpPr/>
          <p:nvPr/>
        </p:nvSpPr>
        <p:spPr>
          <a:xfrm>
            <a:off x="6299042" y="4841875"/>
            <a:ext cx="500367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Decision support for warehouse teams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6222844" y="4470400"/>
            <a:ext cx="5079873" cy="1066800"/>
          </a:xfrm>
          <a:prstGeom prst="roundRect">
            <a:avLst>
              <a:gd name="adj" fmla="val 3214"/>
            </a:avLst>
          </a:prstGeom>
          <a:noFill/>
          <a:ln w="19050">
            <a:solidFill>
              <a:srgbClr val="F7941D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222844" y="4470400"/>
            <a:ext cx="101597" cy="1066800"/>
          </a:xfrm>
          <a:prstGeom prst="roundRect">
            <a:avLst>
              <a:gd name="adj" fmla="val 33750"/>
            </a:avLst>
          </a:prstGeom>
          <a:solidFill>
            <a:srgbClr val="F7941D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4134" y="-300335"/>
            <a:ext cx="13119962" cy="113625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88" y="267791"/>
            <a:ext cx="871913" cy="871934"/>
          </a:xfrm>
          <a:prstGeom prst="rect">
            <a:avLst/>
          </a:prstGeom>
        </p:spPr>
      </p:pic>
      <p:pic>
        <p:nvPicPr>
          <p:cNvPr id="4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617" y="261144"/>
            <a:ext cx="885009" cy="88503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43220" y="460"/>
                </a:lnTo>
                <a:lnTo>
                  <a:pt x="36710" y="1790"/>
                </a:lnTo>
                <a:lnTo>
                  <a:pt x="30540" y="3930"/>
                </a:lnTo>
                <a:lnTo>
                  <a:pt x="24760" y="6830"/>
                </a:lnTo>
                <a:lnTo>
                  <a:pt x="19450" y="10420"/>
                </a:lnTo>
                <a:lnTo>
                  <a:pt x="14640" y="14640"/>
                </a:lnTo>
                <a:lnTo>
                  <a:pt x="10420" y="19450"/>
                </a:lnTo>
                <a:lnTo>
                  <a:pt x="6830" y="24760"/>
                </a:lnTo>
                <a:lnTo>
                  <a:pt x="3930" y="30540"/>
                </a:lnTo>
                <a:lnTo>
                  <a:pt x="1790" y="36710"/>
                </a:lnTo>
                <a:lnTo>
                  <a:pt x="460" y="43220"/>
                </a:lnTo>
                <a:lnTo>
                  <a:pt x="0" y="50000"/>
                </a:lnTo>
                <a:lnTo>
                  <a:pt x="460" y="56780"/>
                </a:lnTo>
                <a:lnTo>
                  <a:pt x="1790" y="63290"/>
                </a:lnTo>
                <a:lnTo>
                  <a:pt x="3930" y="69460"/>
                </a:lnTo>
                <a:lnTo>
                  <a:pt x="6830" y="75240"/>
                </a:lnTo>
                <a:lnTo>
                  <a:pt x="10420" y="80550"/>
                </a:lnTo>
                <a:lnTo>
                  <a:pt x="14640" y="85360"/>
                </a:lnTo>
                <a:lnTo>
                  <a:pt x="19450" y="89580"/>
                </a:lnTo>
                <a:lnTo>
                  <a:pt x="24760" y="93170"/>
                </a:lnTo>
                <a:lnTo>
                  <a:pt x="30540" y="96070"/>
                </a:lnTo>
                <a:lnTo>
                  <a:pt x="36710" y="98210"/>
                </a:lnTo>
                <a:lnTo>
                  <a:pt x="43220" y="99540"/>
                </a:lnTo>
                <a:lnTo>
                  <a:pt x="50000" y="100000"/>
                </a:lnTo>
                <a:lnTo>
                  <a:pt x="56780" y="99540"/>
                </a:lnTo>
                <a:lnTo>
                  <a:pt x="63290" y="98210"/>
                </a:lnTo>
                <a:lnTo>
                  <a:pt x="69460" y="96070"/>
                </a:lnTo>
                <a:lnTo>
                  <a:pt x="75240" y="93170"/>
                </a:lnTo>
                <a:lnTo>
                  <a:pt x="80550" y="89580"/>
                </a:lnTo>
                <a:lnTo>
                  <a:pt x="85360" y="85360"/>
                </a:lnTo>
                <a:lnTo>
                  <a:pt x="89580" y="80550"/>
                </a:lnTo>
                <a:lnTo>
                  <a:pt x="93170" y="75240"/>
                </a:lnTo>
                <a:lnTo>
                  <a:pt x="96070" y="69460"/>
                </a:lnTo>
                <a:lnTo>
                  <a:pt x="98210" y="63290"/>
                </a:lnTo>
                <a:lnTo>
                  <a:pt x="99540" y="56780"/>
                </a:lnTo>
                <a:lnTo>
                  <a:pt x="100000" y="50000"/>
                </a:lnTo>
                <a:lnTo>
                  <a:pt x="99540" y="43220"/>
                </a:lnTo>
                <a:lnTo>
                  <a:pt x="98210" y="36710"/>
                </a:lnTo>
                <a:lnTo>
                  <a:pt x="96070" y="30540"/>
                </a:lnTo>
                <a:lnTo>
                  <a:pt x="93170" y="24760"/>
                </a:lnTo>
                <a:lnTo>
                  <a:pt x="89580" y="19450"/>
                </a:lnTo>
                <a:lnTo>
                  <a:pt x="85360" y="14640"/>
                </a:lnTo>
                <a:lnTo>
                  <a:pt x="80550" y="10420"/>
                </a:lnTo>
                <a:lnTo>
                  <a:pt x="75240" y="6830"/>
                </a:lnTo>
                <a:lnTo>
                  <a:pt x="69460" y="3930"/>
                </a:lnTo>
                <a:lnTo>
                  <a:pt x="63290" y="1790"/>
                </a:lnTo>
                <a:lnTo>
                  <a:pt x="56780" y="460"/>
                </a:lnTo>
                <a:lnTo>
                  <a:pt x="50000" y="0"/>
                </a:lnTo>
                <a:close/>
              </a:path>
            </a:pathLst>
          </a:cu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4954" y="6172200"/>
            <a:ext cx="13119962" cy="113625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566533" y="6272907"/>
            <a:ext cx="293680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8</a:t>
            </a:r>
            <a:endParaRPr lang="en-US" sz="2650" dirty="0"/>
          </a:p>
        </p:txBody>
      </p:sp>
      <p:sp>
        <p:nvSpPr>
          <p:cNvPr id="7" name="Text 1"/>
          <p:cNvSpPr/>
          <p:nvPr/>
        </p:nvSpPr>
        <p:spPr>
          <a:xfrm>
            <a:off x="817344" y="1204758"/>
            <a:ext cx="10362941" cy="61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3450" b="1" kern="100" spc="156" dirty="0">
                <a:solidFill>
                  <a:srgbClr val="1800AD"/>
                </a:solidFill>
                <a:latin typeface="EB Garamond Bold" pitchFamily="34" charset="0"/>
                <a:ea typeface="EB Garamond Bold" pitchFamily="34" charset="-122"/>
                <a:cs typeface="EB Garamond Bold" pitchFamily="34" charset="0"/>
              </a:rPr>
              <a:t>TEAM MEMBERS’ CONTRIBUTION</a:t>
            </a:r>
            <a:endParaRPr lang="en-US" sz="3450" dirty="0"/>
          </a:p>
        </p:txBody>
      </p:sp>
      <p:sp>
        <p:nvSpPr>
          <p:cNvPr id="8" name="Shape 2"/>
          <p:cNvSpPr/>
          <p:nvPr/>
        </p:nvSpPr>
        <p:spPr>
          <a:xfrm>
            <a:off x="888978" y="2032000"/>
            <a:ext cx="5079873" cy="1803400"/>
          </a:xfrm>
          <a:prstGeom prst="roundRect">
            <a:avLst>
              <a:gd name="adj" fmla="val 1901"/>
            </a:avLst>
          </a:prstGeom>
          <a:solidFill>
            <a:srgbClr val="EEEDFF"/>
          </a:solidFill>
          <a:ln/>
        </p:spPr>
      </p:sp>
      <p:sp>
        <p:nvSpPr>
          <p:cNvPr id="9" name="Shape 3"/>
          <p:cNvSpPr/>
          <p:nvPr/>
        </p:nvSpPr>
        <p:spPr>
          <a:xfrm>
            <a:off x="888978" y="2032000"/>
            <a:ext cx="5079873" cy="63500"/>
          </a:xfrm>
          <a:prstGeom prst="rect">
            <a:avLst/>
          </a:prstGeom>
          <a:solidFill>
            <a:srgbClr val="1800AD"/>
          </a:solidFill>
          <a:ln/>
        </p:spPr>
      </p:sp>
      <p:sp>
        <p:nvSpPr>
          <p:cNvPr id="10" name="Text 4"/>
          <p:cNvSpPr/>
          <p:nvPr/>
        </p:nvSpPr>
        <p:spPr>
          <a:xfrm>
            <a:off x="838179" y="2298700"/>
            <a:ext cx="518147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Hemanth</a:t>
            </a:r>
            <a:endParaRPr lang="en-US" sz="1900" dirty="0"/>
          </a:p>
        </p:txBody>
      </p:sp>
      <p:sp>
        <p:nvSpPr>
          <p:cNvPr id="11" name="Text 5"/>
          <p:cNvSpPr/>
          <p:nvPr/>
        </p:nvSpPr>
        <p:spPr>
          <a:xfrm>
            <a:off x="1142971" y="3041650"/>
            <a:ext cx="457188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Ideation, architecture, problem framing, constraint validation, optimization logic, integration, review, and coordination.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6222844" y="2032000"/>
            <a:ext cx="5079873" cy="1803400"/>
          </a:xfrm>
          <a:prstGeom prst="roundRect">
            <a:avLst>
              <a:gd name="adj" fmla="val 1901"/>
            </a:avLst>
          </a:prstGeom>
          <a:solidFill>
            <a:srgbClr val="FDE7F1"/>
          </a:solidFill>
          <a:ln/>
        </p:spPr>
      </p:sp>
      <p:sp>
        <p:nvSpPr>
          <p:cNvPr id="13" name="Shape 7"/>
          <p:cNvSpPr/>
          <p:nvPr/>
        </p:nvSpPr>
        <p:spPr>
          <a:xfrm>
            <a:off x="6222844" y="2032000"/>
            <a:ext cx="5079873" cy="63500"/>
          </a:xfrm>
          <a:prstGeom prst="rect">
            <a:avLst/>
          </a:prstGeom>
          <a:solidFill>
            <a:srgbClr val="E8428A"/>
          </a:solidFill>
          <a:ln/>
        </p:spPr>
      </p:sp>
      <p:sp>
        <p:nvSpPr>
          <p:cNvPr id="14" name="Text 8"/>
          <p:cNvSpPr/>
          <p:nvPr/>
        </p:nvSpPr>
        <p:spPr>
          <a:xfrm>
            <a:off x="6172046" y="2298700"/>
            <a:ext cx="518147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Larshitha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476838" y="3022600"/>
            <a:ext cx="457188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Data collection, structuring, dataset preparation, EDA, ABC classification, demand profiling, affinity analysis, and validation.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888978" y="3937000"/>
            <a:ext cx="5079873" cy="1803400"/>
          </a:xfrm>
          <a:prstGeom prst="roundRect">
            <a:avLst>
              <a:gd name="adj" fmla="val 1901"/>
            </a:avLst>
          </a:prstGeom>
          <a:solidFill>
            <a:srgbClr val="FFF1E0"/>
          </a:solidFill>
          <a:ln/>
        </p:spPr>
      </p:sp>
      <p:sp>
        <p:nvSpPr>
          <p:cNvPr id="17" name="Shape 11"/>
          <p:cNvSpPr/>
          <p:nvPr/>
        </p:nvSpPr>
        <p:spPr>
          <a:xfrm>
            <a:off x="888978" y="3937000"/>
            <a:ext cx="5079873" cy="63500"/>
          </a:xfrm>
          <a:prstGeom prst="rect">
            <a:avLst/>
          </a:prstGeom>
          <a:solidFill>
            <a:srgbClr val="F7941D"/>
          </a:solidFill>
          <a:ln/>
        </p:spPr>
      </p:sp>
      <p:sp>
        <p:nvSpPr>
          <p:cNvPr id="18" name="Text 12"/>
          <p:cNvSpPr/>
          <p:nvPr/>
        </p:nvSpPr>
        <p:spPr>
          <a:xfrm>
            <a:off x="838179" y="4203700"/>
            <a:ext cx="518147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Mani Sharan Raj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142971" y="4927600"/>
            <a:ext cx="457188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Warehouse topology, aisle-network graph, routing, pick-path simulation, travel distance, and baseline vs optimized evaluation.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22844" y="3937000"/>
            <a:ext cx="5079873" cy="1803400"/>
          </a:xfrm>
          <a:prstGeom prst="roundRect">
            <a:avLst>
              <a:gd name="adj" fmla="val 1901"/>
            </a:avLst>
          </a:prstGeom>
          <a:solidFill>
            <a:srgbClr val="E9F0FF"/>
          </a:solidFill>
          <a:ln/>
        </p:spPr>
      </p:sp>
      <p:sp>
        <p:nvSpPr>
          <p:cNvPr id="21" name="Shape 15"/>
          <p:cNvSpPr/>
          <p:nvPr/>
        </p:nvSpPr>
        <p:spPr>
          <a:xfrm>
            <a:off x="6222844" y="3937000"/>
            <a:ext cx="5079873" cy="63500"/>
          </a:xfrm>
          <a:prstGeom prst="rect">
            <a:avLst/>
          </a:prstGeom>
          <a:solidFill>
            <a:srgbClr val="3533CD"/>
          </a:solidFill>
          <a:ln/>
        </p:spPr>
      </p:sp>
      <p:sp>
        <p:nvSpPr>
          <p:cNvPr id="22" name="Text 16"/>
          <p:cNvSpPr/>
          <p:nvPr/>
        </p:nvSpPr>
        <p:spPr>
          <a:xfrm>
            <a:off x="6172046" y="4203700"/>
            <a:ext cx="518147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Tejoram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476838" y="4927600"/>
            <a:ext cx="457188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Streamlit dashboard, 3x3 zonal layout, route visualization, KPI comparison, reports, PPT, and documentation.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4134" y="-300335"/>
            <a:ext cx="13119962" cy="113625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88" y="267791"/>
            <a:ext cx="871913" cy="871934"/>
          </a:xfrm>
          <a:prstGeom prst="rect">
            <a:avLst/>
          </a:prstGeom>
        </p:spPr>
      </p:pic>
      <p:pic>
        <p:nvPicPr>
          <p:cNvPr id="4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5617" y="261144"/>
            <a:ext cx="885009" cy="88503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43220" y="460"/>
                </a:lnTo>
                <a:lnTo>
                  <a:pt x="36710" y="1790"/>
                </a:lnTo>
                <a:lnTo>
                  <a:pt x="30540" y="3930"/>
                </a:lnTo>
                <a:lnTo>
                  <a:pt x="24760" y="6830"/>
                </a:lnTo>
                <a:lnTo>
                  <a:pt x="19450" y="10420"/>
                </a:lnTo>
                <a:lnTo>
                  <a:pt x="14640" y="14640"/>
                </a:lnTo>
                <a:lnTo>
                  <a:pt x="10420" y="19450"/>
                </a:lnTo>
                <a:lnTo>
                  <a:pt x="6830" y="24760"/>
                </a:lnTo>
                <a:lnTo>
                  <a:pt x="3930" y="30540"/>
                </a:lnTo>
                <a:lnTo>
                  <a:pt x="1790" y="36710"/>
                </a:lnTo>
                <a:lnTo>
                  <a:pt x="460" y="43220"/>
                </a:lnTo>
                <a:lnTo>
                  <a:pt x="0" y="50000"/>
                </a:lnTo>
                <a:lnTo>
                  <a:pt x="460" y="56780"/>
                </a:lnTo>
                <a:lnTo>
                  <a:pt x="1790" y="63290"/>
                </a:lnTo>
                <a:lnTo>
                  <a:pt x="3930" y="69460"/>
                </a:lnTo>
                <a:lnTo>
                  <a:pt x="6830" y="75240"/>
                </a:lnTo>
                <a:lnTo>
                  <a:pt x="10420" y="80550"/>
                </a:lnTo>
                <a:lnTo>
                  <a:pt x="14640" y="85360"/>
                </a:lnTo>
                <a:lnTo>
                  <a:pt x="19450" y="89580"/>
                </a:lnTo>
                <a:lnTo>
                  <a:pt x="24760" y="93170"/>
                </a:lnTo>
                <a:lnTo>
                  <a:pt x="30540" y="96070"/>
                </a:lnTo>
                <a:lnTo>
                  <a:pt x="36710" y="98210"/>
                </a:lnTo>
                <a:lnTo>
                  <a:pt x="43220" y="99540"/>
                </a:lnTo>
                <a:lnTo>
                  <a:pt x="50000" y="100000"/>
                </a:lnTo>
                <a:lnTo>
                  <a:pt x="56780" y="99540"/>
                </a:lnTo>
                <a:lnTo>
                  <a:pt x="63290" y="98210"/>
                </a:lnTo>
                <a:lnTo>
                  <a:pt x="69460" y="96070"/>
                </a:lnTo>
                <a:lnTo>
                  <a:pt x="75240" y="93170"/>
                </a:lnTo>
                <a:lnTo>
                  <a:pt x="80550" y="89580"/>
                </a:lnTo>
                <a:lnTo>
                  <a:pt x="85360" y="85360"/>
                </a:lnTo>
                <a:lnTo>
                  <a:pt x="89580" y="80550"/>
                </a:lnTo>
                <a:lnTo>
                  <a:pt x="93170" y="75240"/>
                </a:lnTo>
                <a:lnTo>
                  <a:pt x="96070" y="69460"/>
                </a:lnTo>
                <a:lnTo>
                  <a:pt x="98210" y="63290"/>
                </a:lnTo>
                <a:lnTo>
                  <a:pt x="99540" y="56780"/>
                </a:lnTo>
                <a:lnTo>
                  <a:pt x="100000" y="50000"/>
                </a:lnTo>
                <a:lnTo>
                  <a:pt x="99540" y="43220"/>
                </a:lnTo>
                <a:lnTo>
                  <a:pt x="98210" y="36710"/>
                </a:lnTo>
                <a:lnTo>
                  <a:pt x="96070" y="30540"/>
                </a:lnTo>
                <a:lnTo>
                  <a:pt x="93170" y="24760"/>
                </a:lnTo>
                <a:lnTo>
                  <a:pt x="89580" y="19450"/>
                </a:lnTo>
                <a:lnTo>
                  <a:pt x="85360" y="14640"/>
                </a:lnTo>
                <a:lnTo>
                  <a:pt x="80550" y="10420"/>
                </a:lnTo>
                <a:lnTo>
                  <a:pt x="75240" y="6830"/>
                </a:lnTo>
                <a:lnTo>
                  <a:pt x="69460" y="3930"/>
                </a:lnTo>
                <a:lnTo>
                  <a:pt x="63290" y="1790"/>
                </a:lnTo>
                <a:lnTo>
                  <a:pt x="56780" y="460"/>
                </a:lnTo>
                <a:lnTo>
                  <a:pt x="50000" y="0"/>
                </a:lnTo>
                <a:close/>
              </a:path>
            </a:pathLst>
          </a:custGeom>
        </p:spPr>
      </p:pic>
      <p:sp>
        <p:nvSpPr>
          <p:cNvPr id="5" name="Text 0"/>
          <p:cNvSpPr/>
          <p:nvPr/>
        </p:nvSpPr>
        <p:spPr>
          <a:xfrm>
            <a:off x="1904952" y="2428304"/>
            <a:ext cx="8324642" cy="85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7200" b="1" kern="100" spc="-535" dirty="0">
                <a:solidFill>
                  <a:srgbClr val="343434"/>
                </a:solidFill>
                <a:latin typeface="Hubot Sans Bold" pitchFamily="34" charset="0"/>
                <a:ea typeface="Hubot Sans Bold" pitchFamily="34" charset="-122"/>
                <a:cs typeface="Hubot Sans Bold" pitchFamily="34" charset="0"/>
              </a:rPr>
              <a:t>THANK YOU</a:t>
            </a:r>
            <a:endParaRPr lang="en-US" sz="7200" dirty="0"/>
          </a:p>
        </p:txBody>
      </p:sp>
      <p:sp>
        <p:nvSpPr>
          <p:cNvPr id="6" name="Text 1"/>
          <p:cNvSpPr/>
          <p:nvPr/>
        </p:nvSpPr>
        <p:spPr>
          <a:xfrm>
            <a:off x="2343091" y="4445000"/>
            <a:ext cx="750551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spcAft>
                <a:spcPts val="2950"/>
              </a:spcAft>
              <a:buNone/>
            </a:pPr>
            <a:r>
              <a:rPr lang="en-US" sz="1800" b="1" dirty="0">
                <a:solidFill>
                  <a:srgbClr val="1800AD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Hemanth (Lead) · Larshitha · Mani Sharan Raj · Tejoram</a:t>
            </a:r>
            <a:endParaRPr lang="en-US" sz="1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800AD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Team: Fantasitc Four</a:t>
            </a:r>
            <a:endParaRPr lang="en-US" sz="18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4954" y="6172200"/>
            <a:ext cx="13119962" cy="1136253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1566533" y="6272907"/>
            <a:ext cx="293680" cy="47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0"/>
              </a:rPr>
              <a:t>9</a:t>
            </a:r>
            <a:endParaRPr lang="en-US" sz="2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439</Words>
  <Application>Microsoft Office PowerPoint</Application>
  <PresentationFormat>Widescreen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EB Garamond Bold</vt:lpstr>
      <vt:lpstr>Hubot Sans Bold</vt:lpstr>
      <vt:lpstr>Arial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Tejoram GV</cp:lastModifiedBy>
  <cp:revision>2</cp:revision>
  <dcterms:created xsi:type="dcterms:W3CDTF">2026-10-28T10:41:58Z</dcterms:created>
  <dcterms:modified xsi:type="dcterms:W3CDTF">2026-10-28T16:18:54Z</dcterms:modified>
</cp:coreProperties>
</file>